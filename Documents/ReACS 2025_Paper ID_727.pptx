
<file path=[Content_Types].xml><?xml version="1.0" encoding="utf-8"?>
<Types xmlns="http://schemas.openxmlformats.org/package/2006/content-types">
  <Default Extension="bin" ContentType="image/unknown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50" r:id="rId2"/>
  </p:sldMasterIdLst>
  <p:notesMasterIdLst>
    <p:notesMasterId r:id="rId15"/>
  </p:notesMasterIdLst>
  <p:sldIdLst>
    <p:sldId id="256" r:id="rId3"/>
    <p:sldId id="258" r:id="rId4"/>
    <p:sldId id="257" r:id="rId5"/>
    <p:sldId id="259" r:id="rId6"/>
    <p:sldId id="260" r:id="rId7"/>
    <p:sldId id="261" r:id="rId8"/>
    <p:sldId id="262" r:id="rId9"/>
    <p:sldId id="264" r:id="rId10"/>
    <p:sldId id="263" r:id="rId11"/>
    <p:sldId id="265" r:id="rId12"/>
    <p:sldId id="266" r:id="rId13"/>
    <p:sldId id="267" r:id="rId14"/>
  </p:sldIdLst>
  <p:sldSz cx="12192000" cy="6858000"/>
  <p:notesSz cx="12192000" cy="6858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432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6" roundtripDataSignature="AMtx7mhcMr+sUzRKoApbML0BS4yz/WMuB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938C9F2-F6C0-49DF-A3E0-D3A70B348328}">
  <a:tblStyle styleId="{2938C9F2-F6C0-49DF-A3E0-D3A70B34832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28"/>
      </p:cViewPr>
      <p:guideLst>
        <p:guide orient="horz" pos="432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26" Type="http://customschemas.google.com/relationships/presentationmetadata" Target="metadata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2" Type="http://schemas.openxmlformats.org/officeDocument/2006/relationships/slideMaster" Target="slideMasters/slideMaster2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98652344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" name="Google Shape;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9599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">
          <a:extLst>
            <a:ext uri="{FF2B5EF4-FFF2-40B4-BE49-F238E27FC236}">
              <a16:creationId xmlns:a16="http://schemas.microsoft.com/office/drawing/2014/main" id="{052916DC-2A62-0168-971D-FAF1BB874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:notes">
            <a:extLst>
              <a:ext uri="{FF2B5EF4-FFF2-40B4-BE49-F238E27FC236}">
                <a16:creationId xmlns:a16="http://schemas.microsoft.com/office/drawing/2014/main" id="{706F90CA-95E1-889A-F376-F9025E3B13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2:notes">
            <a:extLst>
              <a:ext uri="{FF2B5EF4-FFF2-40B4-BE49-F238E27FC236}">
                <a16:creationId xmlns:a16="http://schemas.microsoft.com/office/drawing/2014/main" id="{F02E9BC8-52F0-A28D-B3CD-7C8EB96907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0189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4207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">
          <a:extLst>
            <a:ext uri="{FF2B5EF4-FFF2-40B4-BE49-F238E27FC236}">
              <a16:creationId xmlns:a16="http://schemas.microsoft.com/office/drawing/2014/main" id="{C9AF48C3-505F-E390-901F-97A95AF01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:notes">
            <a:extLst>
              <a:ext uri="{FF2B5EF4-FFF2-40B4-BE49-F238E27FC236}">
                <a16:creationId xmlns:a16="http://schemas.microsoft.com/office/drawing/2014/main" id="{1671E0FF-CD79-941F-F655-595EBDCDBAA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2:notes">
            <a:extLst>
              <a:ext uri="{FF2B5EF4-FFF2-40B4-BE49-F238E27FC236}">
                <a16:creationId xmlns:a16="http://schemas.microsoft.com/office/drawing/2014/main" id="{91634B74-056C-EC18-1356-2734989E0C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158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">
          <a:extLst>
            <a:ext uri="{FF2B5EF4-FFF2-40B4-BE49-F238E27FC236}">
              <a16:creationId xmlns:a16="http://schemas.microsoft.com/office/drawing/2014/main" id="{231EE62C-2391-E683-2CED-C706BC146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:notes">
            <a:extLst>
              <a:ext uri="{FF2B5EF4-FFF2-40B4-BE49-F238E27FC236}">
                <a16:creationId xmlns:a16="http://schemas.microsoft.com/office/drawing/2014/main" id="{4F3E66D1-9EB2-874A-A3CB-05A66938D3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2:notes">
            <a:extLst>
              <a:ext uri="{FF2B5EF4-FFF2-40B4-BE49-F238E27FC236}">
                <a16:creationId xmlns:a16="http://schemas.microsoft.com/office/drawing/2014/main" id="{B5E1C02B-675C-3D55-6E53-BC28867349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663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">
          <a:extLst>
            <a:ext uri="{FF2B5EF4-FFF2-40B4-BE49-F238E27FC236}">
              <a16:creationId xmlns:a16="http://schemas.microsoft.com/office/drawing/2014/main" id="{1DAD4C01-14EB-6C64-CB68-DDCB07D15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:notes">
            <a:extLst>
              <a:ext uri="{FF2B5EF4-FFF2-40B4-BE49-F238E27FC236}">
                <a16:creationId xmlns:a16="http://schemas.microsoft.com/office/drawing/2014/main" id="{E9F4F7EE-19A5-BCD8-C368-563B6B27D6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2:notes">
            <a:extLst>
              <a:ext uri="{FF2B5EF4-FFF2-40B4-BE49-F238E27FC236}">
                <a16:creationId xmlns:a16="http://schemas.microsoft.com/office/drawing/2014/main" id="{A5941B78-C328-C0E9-1F9D-AA6E64B864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3422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">
          <a:extLst>
            <a:ext uri="{FF2B5EF4-FFF2-40B4-BE49-F238E27FC236}">
              <a16:creationId xmlns:a16="http://schemas.microsoft.com/office/drawing/2014/main" id="{AC77800E-9AD2-EB5C-50A3-041E3DFC4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:notes">
            <a:extLst>
              <a:ext uri="{FF2B5EF4-FFF2-40B4-BE49-F238E27FC236}">
                <a16:creationId xmlns:a16="http://schemas.microsoft.com/office/drawing/2014/main" id="{D1BD39A1-DE44-1CAA-7575-CFEF19EF25B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2:notes">
            <a:extLst>
              <a:ext uri="{FF2B5EF4-FFF2-40B4-BE49-F238E27FC236}">
                <a16:creationId xmlns:a16="http://schemas.microsoft.com/office/drawing/2014/main" id="{666AC99E-177A-2196-C5E6-7B05F3D030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5931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">
          <a:extLst>
            <a:ext uri="{FF2B5EF4-FFF2-40B4-BE49-F238E27FC236}">
              <a16:creationId xmlns:a16="http://schemas.microsoft.com/office/drawing/2014/main" id="{A6768AD0-191F-5195-A93D-8E8682E9E5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:notes">
            <a:extLst>
              <a:ext uri="{FF2B5EF4-FFF2-40B4-BE49-F238E27FC236}">
                <a16:creationId xmlns:a16="http://schemas.microsoft.com/office/drawing/2014/main" id="{3F180D33-9DD9-6F0D-E0D5-C6F1698A87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2:notes">
            <a:extLst>
              <a:ext uri="{FF2B5EF4-FFF2-40B4-BE49-F238E27FC236}">
                <a16:creationId xmlns:a16="http://schemas.microsoft.com/office/drawing/2014/main" id="{C8EEBFCA-CE06-D311-4A0C-8AC852A687C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6169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">
          <a:extLst>
            <a:ext uri="{FF2B5EF4-FFF2-40B4-BE49-F238E27FC236}">
              <a16:creationId xmlns:a16="http://schemas.microsoft.com/office/drawing/2014/main" id="{817A9699-CDD5-C82F-8E0E-D0CBDC853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:notes">
            <a:extLst>
              <a:ext uri="{FF2B5EF4-FFF2-40B4-BE49-F238E27FC236}">
                <a16:creationId xmlns:a16="http://schemas.microsoft.com/office/drawing/2014/main" id="{9ECC2A74-EAD1-45F9-C6DB-DA5035CB4A2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9" name="Google Shape;19;p2:notes">
            <a:extLst>
              <a:ext uri="{FF2B5EF4-FFF2-40B4-BE49-F238E27FC236}">
                <a16:creationId xmlns:a16="http://schemas.microsoft.com/office/drawing/2014/main" id="{89C4F42E-227F-0941-64A4-04D8C9617A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1319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">
          <a:extLst>
            <a:ext uri="{FF2B5EF4-FFF2-40B4-BE49-F238E27FC236}">
              <a16:creationId xmlns:a16="http://schemas.microsoft.com/office/drawing/2014/main" id="{6A15CC78-5ADB-EB4D-6A04-19E50637A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:notes">
            <a:extLst>
              <a:ext uri="{FF2B5EF4-FFF2-40B4-BE49-F238E27FC236}">
                <a16:creationId xmlns:a16="http://schemas.microsoft.com/office/drawing/2014/main" id="{BAD5A61A-0916-B783-0C37-71549A8CB0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2:notes">
            <a:extLst>
              <a:ext uri="{FF2B5EF4-FFF2-40B4-BE49-F238E27FC236}">
                <a16:creationId xmlns:a16="http://schemas.microsoft.com/office/drawing/2014/main" id="{E091E01C-5B52-F064-FEA6-C9E9FEEB973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0181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">
          <a:extLst>
            <a:ext uri="{FF2B5EF4-FFF2-40B4-BE49-F238E27FC236}">
              <a16:creationId xmlns:a16="http://schemas.microsoft.com/office/drawing/2014/main" id="{B469D416-A5D4-FF8F-0061-8E201601BF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:notes">
            <a:extLst>
              <a:ext uri="{FF2B5EF4-FFF2-40B4-BE49-F238E27FC236}">
                <a16:creationId xmlns:a16="http://schemas.microsoft.com/office/drawing/2014/main" id="{D2463DF4-C17C-E3D6-4C93-3F4FD495E7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2:notes">
            <a:extLst>
              <a:ext uri="{FF2B5EF4-FFF2-40B4-BE49-F238E27FC236}">
                <a16:creationId xmlns:a16="http://schemas.microsoft.com/office/drawing/2014/main" id="{A849639C-41FC-91D3-6850-78A38A2A991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4820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">
          <a:extLst>
            <a:ext uri="{FF2B5EF4-FFF2-40B4-BE49-F238E27FC236}">
              <a16:creationId xmlns:a16="http://schemas.microsoft.com/office/drawing/2014/main" id="{85A6154D-B09F-9708-065E-06E7030D9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:notes">
            <a:extLst>
              <a:ext uri="{FF2B5EF4-FFF2-40B4-BE49-F238E27FC236}">
                <a16:creationId xmlns:a16="http://schemas.microsoft.com/office/drawing/2014/main" id="{98E96AC2-7630-3C2C-ACAD-B3C0A0BF0B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2:notes">
            <a:extLst>
              <a:ext uri="{FF2B5EF4-FFF2-40B4-BE49-F238E27FC236}">
                <a16:creationId xmlns:a16="http://schemas.microsoft.com/office/drawing/2014/main" id="{328AEFC6-1C85-D4EA-BBF6-7F99AA05AE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529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1;p1">
            <a:extLst>
              <a:ext uri="{FF2B5EF4-FFF2-40B4-BE49-F238E27FC236}">
                <a16:creationId xmlns:a16="http://schemas.microsoft.com/office/drawing/2014/main" id="{E9F18C48-03A5-6063-4DBF-C8DE3B20C5CE}"/>
              </a:ext>
            </a:extLst>
          </p:cNvPr>
          <p:cNvSpPr/>
          <p:nvPr userDrawn="1"/>
        </p:nvSpPr>
        <p:spPr>
          <a:xfrm>
            <a:off x="21336" y="6585056"/>
            <a:ext cx="12170664" cy="368807"/>
          </a:xfrm>
          <a:custGeom>
            <a:avLst/>
            <a:gdLst/>
            <a:ahLst/>
            <a:cxnLst/>
            <a:rect l="l" t="t" r="r" b="b"/>
            <a:pathLst>
              <a:path w="12170664" h="368807" extrusionOk="0">
                <a:moveTo>
                  <a:pt x="12170664" y="368807"/>
                </a:moveTo>
                <a:lnTo>
                  <a:pt x="12170664" y="0"/>
                </a:lnTo>
                <a:lnTo>
                  <a:pt x="0" y="0"/>
                </a:lnTo>
                <a:lnTo>
                  <a:pt x="0" y="368807"/>
                </a:lnTo>
                <a:lnTo>
                  <a:pt x="12170664" y="368807"/>
                </a:lnTo>
                <a:close/>
              </a:path>
            </a:pathLst>
          </a:custGeom>
          <a:solidFill>
            <a:srgbClr val="5B9BD4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 algn="ctr"/>
            <a:r>
              <a:rPr lang="en-US" sz="1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600" b="1" dirty="0"/>
              <a:t>2025 IEEE International Conference on Recent Advances in Computing and Systems</a:t>
            </a:r>
            <a:r>
              <a:rPr lang="en-US" sz="1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19 -20 Dec 2025 | ABV-IIITM Gwalior India</a:t>
            </a:r>
            <a:endParaRPr sz="16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35AA6C1-B263-E391-2A85-0930BED59CF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53279" y="5631543"/>
            <a:ext cx="1738948" cy="953513"/>
          </a:xfrm>
          <a:prstGeom prst="rect">
            <a:avLst/>
          </a:prstGeom>
        </p:spPr>
      </p:pic>
      <p:sp>
        <p:nvSpPr>
          <p:cNvPr id="7" name="Google Shape;11;p1">
            <a:extLst>
              <a:ext uri="{FF2B5EF4-FFF2-40B4-BE49-F238E27FC236}">
                <a16:creationId xmlns:a16="http://schemas.microsoft.com/office/drawing/2014/main" id="{ACB14F53-D9E1-4D15-A06E-1F08B6B2C368}"/>
              </a:ext>
            </a:extLst>
          </p:cNvPr>
          <p:cNvSpPr/>
          <p:nvPr userDrawn="1"/>
        </p:nvSpPr>
        <p:spPr>
          <a:xfrm>
            <a:off x="-29688" y="6571400"/>
            <a:ext cx="12221688" cy="382464"/>
          </a:xfrm>
          <a:custGeom>
            <a:avLst/>
            <a:gdLst/>
            <a:ahLst/>
            <a:cxnLst/>
            <a:rect l="l" t="t" r="r" b="b"/>
            <a:pathLst>
              <a:path w="12170664" h="368807" extrusionOk="0">
                <a:moveTo>
                  <a:pt x="12170664" y="368807"/>
                </a:moveTo>
                <a:lnTo>
                  <a:pt x="12170664" y="0"/>
                </a:lnTo>
                <a:lnTo>
                  <a:pt x="0" y="0"/>
                </a:lnTo>
                <a:lnTo>
                  <a:pt x="0" y="368807"/>
                </a:lnTo>
                <a:lnTo>
                  <a:pt x="12170664" y="368807"/>
                </a:lnTo>
                <a:close/>
              </a:path>
            </a:pathLst>
          </a:custGeom>
          <a:solidFill>
            <a:srgbClr val="5B9BD4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 algn="ctr"/>
            <a:r>
              <a:rPr lang="en-US" sz="1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600" b="1" dirty="0"/>
              <a:t>2025 IEEE International Conference on Recent Advances in Computing and Systems</a:t>
            </a:r>
            <a:r>
              <a:rPr lang="en-US" sz="1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19 -20 Dec 2025 | ABV-IIITM Gwalior India</a:t>
            </a:r>
            <a:endParaRPr sz="16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D99C3-3074-A8BD-6301-CFF0C1D40A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DCD6C9-3125-79BA-6A68-FA78888ACC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1DB887-56B9-BF2E-99DF-113ECE0E4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9693C-5D8F-460A-B1A1-112DD1E9E921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59847D-B56B-896C-0D9B-87933B695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4FDE46-9279-1F99-8F98-1DCC9D40B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6E364-F2F0-4E85-BE0A-F5D9CA33C15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Google Shape;11;p1">
            <a:extLst>
              <a:ext uri="{FF2B5EF4-FFF2-40B4-BE49-F238E27FC236}">
                <a16:creationId xmlns:a16="http://schemas.microsoft.com/office/drawing/2014/main" id="{7FA79B97-A625-B723-41D5-229D72065BAB}"/>
              </a:ext>
            </a:extLst>
          </p:cNvPr>
          <p:cNvSpPr/>
          <p:nvPr userDrawn="1"/>
        </p:nvSpPr>
        <p:spPr>
          <a:xfrm>
            <a:off x="21336" y="6585056"/>
            <a:ext cx="12170664" cy="368807"/>
          </a:xfrm>
          <a:custGeom>
            <a:avLst/>
            <a:gdLst/>
            <a:ahLst/>
            <a:cxnLst/>
            <a:rect l="l" t="t" r="r" b="b"/>
            <a:pathLst>
              <a:path w="12170664" h="368807" extrusionOk="0">
                <a:moveTo>
                  <a:pt x="12170664" y="368807"/>
                </a:moveTo>
                <a:lnTo>
                  <a:pt x="12170664" y="0"/>
                </a:lnTo>
                <a:lnTo>
                  <a:pt x="0" y="0"/>
                </a:lnTo>
                <a:lnTo>
                  <a:pt x="0" y="368807"/>
                </a:lnTo>
                <a:lnTo>
                  <a:pt x="12170664" y="368807"/>
                </a:lnTo>
                <a:close/>
              </a:path>
            </a:pathLst>
          </a:custGeom>
          <a:solidFill>
            <a:srgbClr val="5B9BD4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 algn="ctr"/>
            <a:r>
              <a:rPr lang="en-US" sz="1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600" b="1" dirty="0"/>
              <a:t>2025 IEEE International Conference on Recent Advances in Computing and Systems</a:t>
            </a:r>
            <a:r>
              <a:rPr lang="en-US" sz="1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19 -20 Dec 2025 | ABV-IIITM Gwalior India</a:t>
            </a:r>
            <a:endParaRPr sz="16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C9C5F21-E880-6CF5-53E6-E1C463D7E19C}"/>
              </a:ext>
            </a:extLst>
          </p:cNvPr>
          <p:cNvCxnSpPr/>
          <p:nvPr userDrawn="1"/>
        </p:nvCxnSpPr>
        <p:spPr>
          <a:xfrm>
            <a:off x="584613" y="2000822"/>
            <a:ext cx="10792918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logo with a red blue and orange swirls">
            <a:extLst>
              <a:ext uri="{FF2B5EF4-FFF2-40B4-BE49-F238E27FC236}">
                <a16:creationId xmlns:a16="http://schemas.microsoft.com/office/drawing/2014/main" id="{E3F3E623-3A56-5D30-9CA0-0E259D02A45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28650" y="113134"/>
            <a:ext cx="3423032" cy="2576817"/>
          </a:xfrm>
          <a:prstGeom prst="rect">
            <a:avLst/>
          </a:prstGeom>
        </p:spPr>
      </p:pic>
      <p:pic>
        <p:nvPicPr>
          <p:cNvPr id="10" name="Picture 9" descr="A blue and white logo&#10;&#10;AI-generated content may be incorrect.">
            <a:extLst>
              <a:ext uri="{FF2B5EF4-FFF2-40B4-BE49-F238E27FC236}">
                <a16:creationId xmlns:a16="http://schemas.microsoft.com/office/drawing/2014/main" id="{FF9AF644-B524-5779-6E03-62950DA3763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176450" y="5700307"/>
            <a:ext cx="1963785" cy="884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72864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44883-ED90-D2D0-2547-A379B1CD2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51075D-2754-79A1-DEBA-F057E36661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4DD1C3-547A-FC0A-DC84-28F8E50A2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9693C-5D8F-460A-B1A1-112DD1E9E921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022C3C-64E1-731F-A6C0-E1C939671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6E364-F2F0-4E85-BE0A-F5D9CA33C15E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6B7CA77-EA03-5B87-0ED3-5987BE534F0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15373" y="5665591"/>
            <a:ext cx="1676854" cy="919465"/>
          </a:xfrm>
          <a:prstGeom prst="rect">
            <a:avLst/>
          </a:prstGeom>
        </p:spPr>
      </p:pic>
      <p:sp>
        <p:nvSpPr>
          <p:cNvPr id="11" name="Google Shape;11;p1">
            <a:extLst>
              <a:ext uri="{FF2B5EF4-FFF2-40B4-BE49-F238E27FC236}">
                <a16:creationId xmlns:a16="http://schemas.microsoft.com/office/drawing/2014/main" id="{3E20D5F7-0E69-EB52-8F9E-8FC8870CD2FC}"/>
              </a:ext>
            </a:extLst>
          </p:cNvPr>
          <p:cNvSpPr/>
          <p:nvPr userDrawn="1"/>
        </p:nvSpPr>
        <p:spPr>
          <a:xfrm>
            <a:off x="21336" y="6585056"/>
            <a:ext cx="12170664" cy="368807"/>
          </a:xfrm>
          <a:custGeom>
            <a:avLst/>
            <a:gdLst/>
            <a:ahLst/>
            <a:cxnLst/>
            <a:rect l="l" t="t" r="r" b="b"/>
            <a:pathLst>
              <a:path w="12170664" h="368807" extrusionOk="0">
                <a:moveTo>
                  <a:pt x="12170664" y="368807"/>
                </a:moveTo>
                <a:lnTo>
                  <a:pt x="12170664" y="0"/>
                </a:lnTo>
                <a:lnTo>
                  <a:pt x="0" y="0"/>
                </a:lnTo>
                <a:lnTo>
                  <a:pt x="0" y="368807"/>
                </a:lnTo>
                <a:lnTo>
                  <a:pt x="12170664" y="368807"/>
                </a:lnTo>
                <a:close/>
              </a:path>
            </a:pathLst>
          </a:custGeom>
          <a:solidFill>
            <a:srgbClr val="5B9BD4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 algn="ctr"/>
            <a:r>
              <a:rPr lang="en-US" sz="1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600" b="1" dirty="0"/>
              <a:t>2025 IEEE International Conference on Recent Advances in Computing and Systems</a:t>
            </a:r>
            <a:r>
              <a:rPr lang="en-US" sz="1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19 -20 Dec 2025 | ABV-IIITM Gwalior India</a:t>
            </a:r>
            <a:endParaRPr sz="16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395768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D9EB0-8E58-3C94-4566-CEA9130425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E680C8-F9EC-AFA5-FF88-0848AA1BD7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B23206-FAB1-50CA-FF03-87FA703CD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9693C-5D8F-460A-B1A1-112DD1E9E921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E1618F-26B6-737F-CE6A-BEEF1CB03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6E364-F2F0-4E85-BE0A-F5D9CA33C1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1597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766BC-355F-66D3-0C44-1CF6B1A87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981F90-330B-23A9-5D57-3E11207E6F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D96CAE-0909-C848-0F2D-03EFD0513D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B5AF0D-0700-470A-8DAF-E0FC580A6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9693C-5D8F-460A-B1A1-112DD1E9E921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844CB3-6973-626C-CB09-E91943411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D75E3A-B517-1E88-6165-DFB5EF06E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6E364-F2F0-4E85-BE0A-F5D9CA33C15E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4A1A145-71AE-A119-A661-29DFD8B82A7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15373" y="5665591"/>
            <a:ext cx="1676854" cy="919465"/>
          </a:xfrm>
          <a:prstGeom prst="rect">
            <a:avLst/>
          </a:prstGeom>
        </p:spPr>
      </p:pic>
      <p:sp>
        <p:nvSpPr>
          <p:cNvPr id="9" name="Google Shape;11;p1">
            <a:extLst>
              <a:ext uri="{FF2B5EF4-FFF2-40B4-BE49-F238E27FC236}">
                <a16:creationId xmlns:a16="http://schemas.microsoft.com/office/drawing/2014/main" id="{C953631B-0ED2-B9C7-978B-13D5FEE61F18}"/>
              </a:ext>
            </a:extLst>
          </p:cNvPr>
          <p:cNvSpPr/>
          <p:nvPr userDrawn="1"/>
        </p:nvSpPr>
        <p:spPr>
          <a:xfrm>
            <a:off x="21336" y="6585056"/>
            <a:ext cx="12170664" cy="368807"/>
          </a:xfrm>
          <a:custGeom>
            <a:avLst/>
            <a:gdLst/>
            <a:ahLst/>
            <a:cxnLst/>
            <a:rect l="l" t="t" r="r" b="b"/>
            <a:pathLst>
              <a:path w="12170664" h="368807" extrusionOk="0">
                <a:moveTo>
                  <a:pt x="12170664" y="368807"/>
                </a:moveTo>
                <a:lnTo>
                  <a:pt x="12170664" y="0"/>
                </a:lnTo>
                <a:lnTo>
                  <a:pt x="0" y="0"/>
                </a:lnTo>
                <a:lnTo>
                  <a:pt x="0" y="368807"/>
                </a:lnTo>
                <a:lnTo>
                  <a:pt x="12170664" y="368807"/>
                </a:lnTo>
                <a:close/>
              </a:path>
            </a:pathLst>
          </a:custGeom>
          <a:solidFill>
            <a:srgbClr val="5B9BD4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 algn="ctr"/>
            <a:r>
              <a:rPr lang="en-US" sz="1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600" b="1" dirty="0"/>
              <a:t>2025 IEEE International Conference on Recent Advances in Computing and Systems</a:t>
            </a:r>
            <a:r>
              <a:rPr lang="en-US" sz="1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19 -20 Dec 2025 | ABV-IIITM Gwalior India</a:t>
            </a:r>
            <a:endParaRPr sz="16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033521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8F6D9-F844-4D38-2F80-D0E56EB981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A20449-1842-F2E7-75ED-27E44A60C8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1640F2-1309-0981-588B-C7ADE2E016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CC1089-1760-8AC5-E44F-CD19D135BB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E4D75E2-A897-755A-1178-7FDF27BAF4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C422D9-E5E6-90CF-5ED2-081C576FD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9693C-5D8F-460A-B1A1-112DD1E9E921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8633C2E-1717-0D3F-2209-E71D78097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1ADB7C-192E-3518-A07A-21102DDC0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6E364-F2F0-4E85-BE0A-F5D9CA33C15E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F62C6DF-2065-25F3-8D61-715BAFBB14C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15373" y="5665591"/>
            <a:ext cx="1676854" cy="919465"/>
          </a:xfrm>
          <a:prstGeom prst="rect">
            <a:avLst/>
          </a:prstGeom>
        </p:spPr>
      </p:pic>
      <p:sp>
        <p:nvSpPr>
          <p:cNvPr id="11" name="Google Shape;11;p1">
            <a:extLst>
              <a:ext uri="{FF2B5EF4-FFF2-40B4-BE49-F238E27FC236}">
                <a16:creationId xmlns:a16="http://schemas.microsoft.com/office/drawing/2014/main" id="{AAEC9DBE-7FA5-6878-5B0C-96DF1DDB7084}"/>
              </a:ext>
            </a:extLst>
          </p:cNvPr>
          <p:cNvSpPr/>
          <p:nvPr userDrawn="1"/>
        </p:nvSpPr>
        <p:spPr>
          <a:xfrm>
            <a:off x="21336" y="6585056"/>
            <a:ext cx="12170664" cy="368807"/>
          </a:xfrm>
          <a:custGeom>
            <a:avLst/>
            <a:gdLst/>
            <a:ahLst/>
            <a:cxnLst/>
            <a:rect l="l" t="t" r="r" b="b"/>
            <a:pathLst>
              <a:path w="12170664" h="368807" extrusionOk="0">
                <a:moveTo>
                  <a:pt x="12170664" y="368807"/>
                </a:moveTo>
                <a:lnTo>
                  <a:pt x="12170664" y="0"/>
                </a:lnTo>
                <a:lnTo>
                  <a:pt x="0" y="0"/>
                </a:lnTo>
                <a:lnTo>
                  <a:pt x="0" y="368807"/>
                </a:lnTo>
                <a:lnTo>
                  <a:pt x="12170664" y="368807"/>
                </a:lnTo>
                <a:close/>
              </a:path>
            </a:pathLst>
          </a:custGeom>
          <a:solidFill>
            <a:srgbClr val="5B9BD4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 algn="ctr"/>
            <a:r>
              <a:rPr lang="en-US" sz="1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600" b="1" dirty="0"/>
              <a:t>2025 IEEE International Conference on Recent Advances in Computing and Systems</a:t>
            </a:r>
            <a:r>
              <a:rPr lang="en-US" sz="1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19 -20 Dec 2025 | ABV-IIITM Gwalior India</a:t>
            </a:r>
            <a:endParaRPr sz="16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236341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F3B3B-A006-138F-1C86-63419CEBE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6F6AB1-C58A-2781-FD5A-007122ADA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9693C-5D8F-460A-B1A1-112DD1E9E921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923AE9-309F-F0F6-63AE-3B17AD303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528B90-CB53-FB3F-512B-755D0CCC6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6E364-F2F0-4E85-BE0A-F5D9CA33C15E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C575064-4788-2645-E304-AD0BA14E39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15373" y="5665591"/>
            <a:ext cx="1676854" cy="919465"/>
          </a:xfrm>
          <a:prstGeom prst="rect">
            <a:avLst/>
          </a:prstGeom>
        </p:spPr>
      </p:pic>
      <p:sp>
        <p:nvSpPr>
          <p:cNvPr id="7" name="Google Shape;11;p1">
            <a:extLst>
              <a:ext uri="{FF2B5EF4-FFF2-40B4-BE49-F238E27FC236}">
                <a16:creationId xmlns:a16="http://schemas.microsoft.com/office/drawing/2014/main" id="{3C4F2394-1019-1ABA-0F5B-8C81DF75BFC9}"/>
              </a:ext>
            </a:extLst>
          </p:cNvPr>
          <p:cNvSpPr/>
          <p:nvPr userDrawn="1"/>
        </p:nvSpPr>
        <p:spPr>
          <a:xfrm>
            <a:off x="21336" y="6585056"/>
            <a:ext cx="12170664" cy="368807"/>
          </a:xfrm>
          <a:custGeom>
            <a:avLst/>
            <a:gdLst/>
            <a:ahLst/>
            <a:cxnLst/>
            <a:rect l="l" t="t" r="r" b="b"/>
            <a:pathLst>
              <a:path w="12170664" h="368807" extrusionOk="0">
                <a:moveTo>
                  <a:pt x="12170664" y="368807"/>
                </a:moveTo>
                <a:lnTo>
                  <a:pt x="12170664" y="0"/>
                </a:lnTo>
                <a:lnTo>
                  <a:pt x="0" y="0"/>
                </a:lnTo>
                <a:lnTo>
                  <a:pt x="0" y="368807"/>
                </a:lnTo>
                <a:lnTo>
                  <a:pt x="12170664" y="368807"/>
                </a:lnTo>
                <a:close/>
              </a:path>
            </a:pathLst>
          </a:custGeom>
          <a:solidFill>
            <a:srgbClr val="5B9BD4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 algn="ctr"/>
            <a:r>
              <a:rPr lang="en-US" sz="1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600" b="1" dirty="0"/>
              <a:t>2025 IEEE International Conference on Recent Advances in Computing and Systems</a:t>
            </a:r>
            <a:r>
              <a:rPr lang="en-US" sz="1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19 -20 Dec 2025 | ABV-IIITM Gwalior India</a:t>
            </a:r>
            <a:endParaRPr sz="16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720016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480192-D1D1-C50F-BB53-417C83CC4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9693C-5D8F-460A-B1A1-112DD1E9E921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A61341-EEA2-02CB-1B98-BBED76AE2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7E8E42-AAF7-8E70-8C82-D4E3B78EB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6E364-F2F0-4E85-BE0A-F5D9CA33C15E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BE22E5-2647-0223-CDF2-24678775BF1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15373" y="5665591"/>
            <a:ext cx="1676854" cy="919465"/>
          </a:xfrm>
          <a:prstGeom prst="rect">
            <a:avLst/>
          </a:prstGeom>
        </p:spPr>
      </p:pic>
      <p:sp>
        <p:nvSpPr>
          <p:cNvPr id="6" name="Google Shape;11;p1">
            <a:extLst>
              <a:ext uri="{FF2B5EF4-FFF2-40B4-BE49-F238E27FC236}">
                <a16:creationId xmlns:a16="http://schemas.microsoft.com/office/drawing/2014/main" id="{B660A9E9-FCC8-0993-F186-443F087597C9}"/>
              </a:ext>
            </a:extLst>
          </p:cNvPr>
          <p:cNvSpPr/>
          <p:nvPr userDrawn="1"/>
        </p:nvSpPr>
        <p:spPr>
          <a:xfrm>
            <a:off x="21336" y="6585056"/>
            <a:ext cx="12170664" cy="368807"/>
          </a:xfrm>
          <a:custGeom>
            <a:avLst/>
            <a:gdLst/>
            <a:ahLst/>
            <a:cxnLst/>
            <a:rect l="l" t="t" r="r" b="b"/>
            <a:pathLst>
              <a:path w="12170664" h="368807" extrusionOk="0">
                <a:moveTo>
                  <a:pt x="12170664" y="368807"/>
                </a:moveTo>
                <a:lnTo>
                  <a:pt x="12170664" y="0"/>
                </a:lnTo>
                <a:lnTo>
                  <a:pt x="0" y="0"/>
                </a:lnTo>
                <a:lnTo>
                  <a:pt x="0" y="368807"/>
                </a:lnTo>
                <a:lnTo>
                  <a:pt x="12170664" y="368807"/>
                </a:lnTo>
                <a:close/>
              </a:path>
            </a:pathLst>
          </a:custGeom>
          <a:solidFill>
            <a:srgbClr val="5B9BD4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 algn="ctr"/>
            <a:r>
              <a:rPr lang="en-US" sz="1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600" b="1" dirty="0"/>
              <a:t>2025 IEEE International Conference on Recent Advances in Computing and Systems</a:t>
            </a:r>
            <a:r>
              <a:rPr lang="en-US" sz="1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19 -20 Dec 2025 | ABV-IIITM Gwalior India</a:t>
            </a:r>
            <a:endParaRPr sz="16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439952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C6F04-8802-420F-81E5-2BD9FF0B3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CA2E99-108A-79A5-C9FA-64781080F0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8819B1-4B5D-7831-7A36-8C41EE9C66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160062-ED20-C4F3-CFF3-3B6D65AE8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9693C-5D8F-460A-B1A1-112DD1E9E921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FC3892-106E-5A5C-1362-1BFA205A5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31E338-83C4-179B-B907-673D28232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6E364-F2F0-4E85-BE0A-F5D9CA33C15E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D5DB78F-3382-F2C3-21D4-1BBC00DE81D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15373" y="5665591"/>
            <a:ext cx="1676854" cy="919465"/>
          </a:xfrm>
          <a:prstGeom prst="rect">
            <a:avLst/>
          </a:prstGeom>
        </p:spPr>
      </p:pic>
      <p:sp>
        <p:nvSpPr>
          <p:cNvPr id="9" name="Google Shape;11;p1">
            <a:extLst>
              <a:ext uri="{FF2B5EF4-FFF2-40B4-BE49-F238E27FC236}">
                <a16:creationId xmlns:a16="http://schemas.microsoft.com/office/drawing/2014/main" id="{A67110E9-52FE-1F32-24BF-8FE1DC0178DA}"/>
              </a:ext>
            </a:extLst>
          </p:cNvPr>
          <p:cNvSpPr/>
          <p:nvPr userDrawn="1"/>
        </p:nvSpPr>
        <p:spPr>
          <a:xfrm>
            <a:off x="21336" y="6585056"/>
            <a:ext cx="12170664" cy="368807"/>
          </a:xfrm>
          <a:custGeom>
            <a:avLst/>
            <a:gdLst/>
            <a:ahLst/>
            <a:cxnLst/>
            <a:rect l="l" t="t" r="r" b="b"/>
            <a:pathLst>
              <a:path w="12170664" h="368807" extrusionOk="0">
                <a:moveTo>
                  <a:pt x="12170664" y="368807"/>
                </a:moveTo>
                <a:lnTo>
                  <a:pt x="12170664" y="0"/>
                </a:lnTo>
                <a:lnTo>
                  <a:pt x="0" y="0"/>
                </a:lnTo>
                <a:lnTo>
                  <a:pt x="0" y="368807"/>
                </a:lnTo>
                <a:lnTo>
                  <a:pt x="12170664" y="368807"/>
                </a:lnTo>
                <a:close/>
              </a:path>
            </a:pathLst>
          </a:custGeom>
          <a:solidFill>
            <a:srgbClr val="5B9BD4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 algn="ctr"/>
            <a:r>
              <a:rPr lang="en-US" sz="1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600" b="1" dirty="0"/>
              <a:t>2025 IEEE International Conference on Recent Advances in Computing and Systems</a:t>
            </a:r>
            <a:r>
              <a:rPr lang="en-US" sz="1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19 -20 Dec 2025 | ABV-IIITM Gwalior India</a:t>
            </a:r>
            <a:endParaRPr sz="16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50597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A8877-C260-1B46-5871-3D5173EB9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B0972F-76E0-A2F9-8445-D141DE6B72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7E0171-F9AB-15B6-2119-FC874FBCA1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9AD916-529D-447A-D00F-C90FED846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9693C-5D8F-460A-B1A1-112DD1E9E921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4C1577-0EF0-8BB6-B995-EE1FD7BFB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3C7D12-3DE5-624D-98AD-56500243D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6E364-F2F0-4E85-BE0A-F5D9CA33C15E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0B09884-F680-0379-7E7D-B5A929EBE67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15373" y="5665591"/>
            <a:ext cx="1676854" cy="919465"/>
          </a:xfrm>
          <a:prstGeom prst="rect">
            <a:avLst/>
          </a:prstGeom>
        </p:spPr>
      </p:pic>
      <p:sp>
        <p:nvSpPr>
          <p:cNvPr id="9" name="Google Shape;11;p1">
            <a:extLst>
              <a:ext uri="{FF2B5EF4-FFF2-40B4-BE49-F238E27FC236}">
                <a16:creationId xmlns:a16="http://schemas.microsoft.com/office/drawing/2014/main" id="{77998D06-5880-5DA8-E3C8-CAD9D2DA3EB1}"/>
              </a:ext>
            </a:extLst>
          </p:cNvPr>
          <p:cNvSpPr/>
          <p:nvPr userDrawn="1"/>
        </p:nvSpPr>
        <p:spPr>
          <a:xfrm>
            <a:off x="21336" y="6585056"/>
            <a:ext cx="12170664" cy="368807"/>
          </a:xfrm>
          <a:custGeom>
            <a:avLst/>
            <a:gdLst/>
            <a:ahLst/>
            <a:cxnLst/>
            <a:rect l="l" t="t" r="r" b="b"/>
            <a:pathLst>
              <a:path w="12170664" h="368807" extrusionOk="0">
                <a:moveTo>
                  <a:pt x="12170664" y="368807"/>
                </a:moveTo>
                <a:lnTo>
                  <a:pt x="12170664" y="0"/>
                </a:lnTo>
                <a:lnTo>
                  <a:pt x="0" y="0"/>
                </a:lnTo>
                <a:lnTo>
                  <a:pt x="0" y="368807"/>
                </a:lnTo>
                <a:lnTo>
                  <a:pt x="12170664" y="368807"/>
                </a:lnTo>
                <a:close/>
              </a:path>
            </a:pathLst>
          </a:custGeom>
          <a:solidFill>
            <a:srgbClr val="5B9BD4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 algn="ctr"/>
            <a:r>
              <a:rPr lang="en-US" sz="1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600" b="1" dirty="0"/>
              <a:t>2025 IEEE International Conference on Recent Advances in Computing and Systems</a:t>
            </a:r>
            <a:r>
              <a:rPr lang="en-US" sz="1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19 -20 Dec 2025 | ABV-IIITM Gwalior India</a:t>
            </a:r>
            <a:endParaRPr sz="16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595924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8AAAE-79F7-07E3-FC6B-FFC211EDC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5BC9A2-C6B7-73C8-51C1-AA2DC41CC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8B02BC-9515-6200-55E9-5A32D5E49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9693C-5D8F-460A-B1A1-112DD1E9E921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8DBA2D-4AF4-44A2-3A42-EDF2C3F53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69D68A-0136-D943-F7EB-C0B837A95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6E364-F2F0-4E85-BE0A-F5D9CA33C15E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89ADF00-6A7F-FEAC-A62A-4035A18E809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15373" y="5665591"/>
            <a:ext cx="1676854" cy="919465"/>
          </a:xfrm>
          <a:prstGeom prst="rect">
            <a:avLst/>
          </a:prstGeom>
        </p:spPr>
      </p:pic>
      <p:sp>
        <p:nvSpPr>
          <p:cNvPr id="8" name="Google Shape;11;p1">
            <a:extLst>
              <a:ext uri="{FF2B5EF4-FFF2-40B4-BE49-F238E27FC236}">
                <a16:creationId xmlns:a16="http://schemas.microsoft.com/office/drawing/2014/main" id="{E453705E-B2E1-3889-675E-F3E52EDC456A}"/>
              </a:ext>
            </a:extLst>
          </p:cNvPr>
          <p:cNvSpPr/>
          <p:nvPr userDrawn="1"/>
        </p:nvSpPr>
        <p:spPr>
          <a:xfrm>
            <a:off x="21336" y="6585056"/>
            <a:ext cx="12170664" cy="368807"/>
          </a:xfrm>
          <a:custGeom>
            <a:avLst/>
            <a:gdLst/>
            <a:ahLst/>
            <a:cxnLst/>
            <a:rect l="l" t="t" r="r" b="b"/>
            <a:pathLst>
              <a:path w="12170664" h="368807" extrusionOk="0">
                <a:moveTo>
                  <a:pt x="12170664" y="368807"/>
                </a:moveTo>
                <a:lnTo>
                  <a:pt x="12170664" y="0"/>
                </a:lnTo>
                <a:lnTo>
                  <a:pt x="0" y="0"/>
                </a:lnTo>
                <a:lnTo>
                  <a:pt x="0" y="368807"/>
                </a:lnTo>
                <a:lnTo>
                  <a:pt x="12170664" y="368807"/>
                </a:lnTo>
                <a:close/>
              </a:path>
            </a:pathLst>
          </a:custGeom>
          <a:solidFill>
            <a:srgbClr val="5B9BD4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 algn="ctr"/>
            <a:r>
              <a:rPr lang="en-US" sz="1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600" b="1" dirty="0"/>
              <a:t>2025 IEEE International Conference on Recent Advances in Computing and Systems</a:t>
            </a:r>
            <a:r>
              <a:rPr lang="en-US" sz="1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19 -20 Dec 2025 | ABV-IIITM Gwalior India</a:t>
            </a:r>
            <a:endParaRPr sz="16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830136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4F43DA-08C5-F54E-15FB-6DD17BFE9D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BC42E2-39E4-3E54-A0BA-C4823A484A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6B53AD-4643-4473-7184-C8D199A8E9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9693C-5D8F-460A-B1A1-112DD1E9E921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540BDA-2CF0-5F27-62BC-600882131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5274F9-3969-72F0-50CA-6F2A0557C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6E364-F2F0-4E85-BE0A-F5D9CA33C15E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525B262-06E3-768D-C93A-C02A03A7655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15373" y="5665591"/>
            <a:ext cx="1676854" cy="919465"/>
          </a:xfrm>
          <a:prstGeom prst="rect">
            <a:avLst/>
          </a:prstGeom>
        </p:spPr>
      </p:pic>
      <p:sp>
        <p:nvSpPr>
          <p:cNvPr id="8" name="Google Shape;11;p1">
            <a:extLst>
              <a:ext uri="{FF2B5EF4-FFF2-40B4-BE49-F238E27FC236}">
                <a16:creationId xmlns:a16="http://schemas.microsoft.com/office/drawing/2014/main" id="{ADEF2672-36B4-F9BD-C4A8-CDA41E5B62CC}"/>
              </a:ext>
            </a:extLst>
          </p:cNvPr>
          <p:cNvSpPr/>
          <p:nvPr userDrawn="1"/>
        </p:nvSpPr>
        <p:spPr>
          <a:xfrm>
            <a:off x="21336" y="6585056"/>
            <a:ext cx="12170664" cy="368807"/>
          </a:xfrm>
          <a:custGeom>
            <a:avLst/>
            <a:gdLst/>
            <a:ahLst/>
            <a:cxnLst/>
            <a:rect l="l" t="t" r="r" b="b"/>
            <a:pathLst>
              <a:path w="12170664" h="368807" extrusionOk="0">
                <a:moveTo>
                  <a:pt x="12170664" y="368807"/>
                </a:moveTo>
                <a:lnTo>
                  <a:pt x="12170664" y="0"/>
                </a:lnTo>
                <a:lnTo>
                  <a:pt x="0" y="0"/>
                </a:lnTo>
                <a:lnTo>
                  <a:pt x="0" y="368807"/>
                </a:lnTo>
                <a:lnTo>
                  <a:pt x="12170664" y="368807"/>
                </a:lnTo>
                <a:close/>
              </a:path>
            </a:pathLst>
          </a:custGeom>
          <a:solidFill>
            <a:srgbClr val="5B9BD4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 algn="ctr"/>
            <a:r>
              <a:rPr lang="en-US" sz="1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600" b="1" dirty="0"/>
              <a:t>2025 IEEE International Conference on Recent Advances in Computing and Systems</a:t>
            </a:r>
            <a:r>
              <a:rPr lang="en-US" sz="1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19 -20 Dec 2025 | ABV-IIITM Gwalior India</a:t>
            </a:r>
            <a:endParaRPr sz="16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790848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1;p1">
            <a:extLst>
              <a:ext uri="{FF2B5EF4-FFF2-40B4-BE49-F238E27FC236}">
                <a16:creationId xmlns:a16="http://schemas.microsoft.com/office/drawing/2014/main" id="{94A5987E-3BD5-ACA2-63AE-1AA6AEC0ED5B}"/>
              </a:ext>
            </a:extLst>
          </p:cNvPr>
          <p:cNvSpPr/>
          <p:nvPr userDrawn="1"/>
        </p:nvSpPr>
        <p:spPr>
          <a:xfrm>
            <a:off x="21336" y="6585056"/>
            <a:ext cx="12170664" cy="368807"/>
          </a:xfrm>
          <a:custGeom>
            <a:avLst/>
            <a:gdLst/>
            <a:ahLst/>
            <a:cxnLst/>
            <a:rect l="l" t="t" r="r" b="b"/>
            <a:pathLst>
              <a:path w="12170664" h="368807" extrusionOk="0">
                <a:moveTo>
                  <a:pt x="12170664" y="368807"/>
                </a:moveTo>
                <a:lnTo>
                  <a:pt x="12170664" y="0"/>
                </a:lnTo>
                <a:lnTo>
                  <a:pt x="0" y="0"/>
                </a:lnTo>
                <a:lnTo>
                  <a:pt x="0" y="368807"/>
                </a:lnTo>
                <a:lnTo>
                  <a:pt x="12170664" y="368807"/>
                </a:lnTo>
                <a:close/>
              </a:path>
            </a:pathLst>
          </a:custGeom>
          <a:solidFill>
            <a:srgbClr val="5B9BD4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 algn="ctr"/>
            <a:r>
              <a:rPr lang="en-US" sz="1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600" b="1" dirty="0"/>
              <a:t>2025 IEEE International Conference on Recent Advances in Computing and Systems</a:t>
            </a:r>
            <a:r>
              <a:rPr lang="en-US" sz="1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19 -20 Dec 2025 | ABV-IIITM Gwalior India</a:t>
            </a:r>
            <a:endParaRPr sz="16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B90C01-2F50-091E-8823-50EEA703037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93810" y="5665591"/>
            <a:ext cx="1676854" cy="919465"/>
          </a:xfrm>
          <a:prstGeom prst="rect">
            <a:avLst/>
          </a:prstGeom>
        </p:spPr>
      </p:pic>
      <p:sp>
        <p:nvSpPr>
          <p:cNvPr id="8" name="Google Shape;11;p1">
            <a:extLst>
              <a:ext uri="{FF2B5EF4-FFF2-40B4-BE49-F238E27FC236}">
                <a16:creationId xmlns:a16="http://schemas.microsoft.com/office/drawing/2014/main" id="{2EBB3A15-3B4E-060D-F35A-95AEBC3A451D}"/>
              </a:ext>
            </a:extLst>
          </p:cNvPr>
          <p:cNvSpPr/>
          <p:nvPr userDrawn="1"/>
        </p:nvSpPr>
        <p:spPr>
          <a:xfrm>
            <a:off x="-227" y="6585056"/>
            <a:ext cx="12170664" cy="368807"/>
          </a:xfrm>
          <a:custGeom>
            <a:avLst/>
            <a:gdLst/>
            <a:ahLst/>
            <a:cxnLst/>
            <a:rect l="l" t="t" r="r" b="b"/>
            <a:pathLst>
              <a:path w="12170664" h="368807" extrusionOk="0">
                <a:moveTo>
                  <a:pt x="12170664" y="368807"/>
                </a:moveTo>
                <a:lnTo>
                  <a:pt x="12170664" y="0"/>
                </a:lnTo>
                <a:lnTo>
                  <a:pt x="0" y="0"/>
                </a:lnTo>
                <a:lnTo>
                  <a:pt x="0" y="368807"/>
                </a:lnTo>
                <a:lnTo>
                  <a:pt x="12170664" y="368807"/>
                </a:lnTo>
                <a:close/>
              </a:path>
            </a:pathLst>
          </a:custGeom>
          <a:solidFill>
            <a:srgbClr val="5B9BD4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 algn="ctr"/>
            <a:r>
              <a:rPr lang="en-US" sz="1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600" b="1" dirty="0"/>
              <a:t>2025 IEEE International Conference on Recent Advances in Computing and Systems</a:t>
            </a:r>
            <a:r>
              <a:rPr lang="en-US" sz="1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19 -20 Dec 2025 | ABV-IIITM Gwalior India</a:t>
            </a:r>
            <a:endParaRPr sz="16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2D1686-3E9C-9386-A288-3BE143E0D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014F0B-7493-5036-F5C9-12AED15E3A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51C346-A160-B0D6-C6F1-031F66D2A0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C9693C-5D8F-460A-B1A1-112DD1E9E921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626FBF-8E1E-47FD-3555-0AFF603DBC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0DBA3A-4ED9-9DD4-FA8F-BB443A9FA4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96E364-F2F0-4E85-BE0A-F5D9CA33C15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EC031362-4363-2AA5-1C9B-8B437C491C85}"/>
              </a:ext>
            </a:extLst>
          </p:cNvPr>
          <p:cNvSpPr txBox="1">
            <a:spLocks/>
          </p:cNvSpPr>
          <p:nvPr userDrawn="1"/>
        </p:nvSpPr>
        <p:spPr>
          <a:xfrm>
            <a:off x="4038600" y="6225723"/>
            <a:ext cx="4114800" cy="365125"/>
          </a:xfrm>
          <a:prstGeom prst="rect">
            <a:avLst/>
          </a:prstGeom>
        </p:spPr>
        <p:txBody>
          <a:bodyPr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1" i="0" u="none" strike="noStrike" cap="none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GB" b="1" dirty="0"/>
              <a:t>Paper Id: 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8131727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bin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"/>
          <p:cNvSpPr/>
          <p:nvPr/>
        </p:nvSpPr>
        <p:spPr>
          <a:xfrm>
            <a:off x="21336" y="6585056"/>
            <a:ext cx="12170664" cy="368807"/>
          </a:xfrm>
          <a:custGeom>
            <a:avLst/>
            <a:gdLst/>
            <a:ahLst/>
            <a:cxnLst/>
            <a:rect l="l" t="t" r="r" b="b"/>
            <a:pathLst>
              <a:path w="12170664" h="368807" extrusionOk="0">
                <a:moveTo>
                  <a:pt x="12170664" y="368807"/>
                </a:moveTo>
                <a:lnTo>
                  <a:pt x="12170664" y="0"/>
                </a:lnTo>
                <a:lnTo>
                  <a:pt x="0" y="0"/>
                </a:lnTo>
                <a:lnTo>
                  <a:pt x="0" y="368807"/>
                </a:lnTo>
                <a:lnTo>
                  <a:pt x="12170664" y="368807"/>
                </a:lnTo>
                <a:close/>
              </a:path>
            </a:pathLst>
          </a:custGeom>
          <a:solidFill>
            <a:srgbClr val="5B9BD4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 algn="ctr"/>
            <a:r>
              <a:rPr lang="en-US" sz="1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600" b="1" dirty="0"/>
              <a:t>2025 IEEE International Conference on Recent Advances in Computing and Systems</a:t>
            </a:r>
            <a:r>
              <a:rPr lang="en-US" sz="1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19 -20 Dec 2025 | ABV-IIITM Gwalior India</a:t>
            </a:r>
            <a:endParaRPr sz="16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2;p1"/>
          <p:cNvSpPr txBox="1"/>
          <p:nvPr/>
        </p:nvSpPr>
        <p:spPr>
          <a:xfrm>
            <a:off x="4511078" y="2065847"/>
            <a:ext cx="33111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6000" rIns="0" bIns="0" anchor="t" anchorCtr="0">
            <a:noAutofit/>
          </a:bodyPr>
          <a:lstStyle/>
          <a:p>
            <a:pPr marL="12700" marR="0" lvl="0" indent="0" algn="l" rtl="0">
              <a:lnSpc>
                <a:spcPct val="1023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Paper ID 0</a:t>
            </a:r>
            <a:r>
              <a:rPr lang="en-US" sz="4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4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"/>
          <p:cNvSpPr txBox="1"/>
          <p:nvPr/>
        </p:nvSpPr>
        <p:spPr>
          <a:xfrm>
            <a:off x="584613" y="2651794"/>
            <a:ext cx="10987500" cy="117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725" rIns="0" bIns="0" anchor="t" anchorCtr="0">
            <a:noAutofit/>
          </a:bodyPr>
          <a:lstStyle/>
          <a:p>
            <a:pPr marL="12700" lvl="0" algn="ctr">
              <a:lnSpc>
                <a:spcPct val="101666"/>
              </a:lnSpc>
            </a:pPr>
            <a:r>
              <a:rPr lang="en-US" sz="3200" b="1" dirty="0"/>
              <a:t>Expert-Agnostic AI for Intelligent Tutoring Systems: Leveraging Self-Supervised Knowledge Mining</a:t>
            </a:r>
            <a:endParaRPr sz="32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1"/>
          <p:cNvSpPr txBox="1"/>
          <p:nvPr/>
        </p:nvSpPr>
        <p:spPr>
          <a:xfrm>
            <a:off x="584613" y="3663105"/>
            <a:ext cx="10792917" cy="2765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algn="ctr">
              <a:lnSpc>
                <a:spcPct val="150000"/>
              </a:lnSpc>
              <a:buClr>
                <a:schemeClr val="dk1"/>
              </a:buClr>
              <a:buSzPts val="1100"/>
            </a:pPr>
            <a:r>
              <a:rPr lang="en-US" sz="2000" b="1" dirty="0">
                <a:solidFill>
                  <a:schemeClr val="dk1"/>
                </a:solidFill>
              </a:rPr>
              <a:t>Paper Id : 727</a:t>
            </a:r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b="1" dirty="0">
                <a:solidFill>
                  <a:schemeClr val="dk1"/>
                </a:solidFill>
              </a:rPr>
              <a:t>Authors Names </a:t>
            </a:r>
          </a:p>
          <a:p>
            <a:pPr lvl="0" algn="ctr">
              <a:lnSpc>
                <a:spcPct val="150000"/>
              </a:lnSpc>
              <a:buClr>
                <a:schemeClr val="dk1"/>
              </a:buClr>
              <a:buSzPts val="1100"/>
            </a:pPr>
            <a:r>
              <a:rPr lang="en-IN" sz="1800" dirty="0"/>
              <a:t>S.V.N. </a:t>
            </a:r>
            <a:r>
              <a:rPr lang="en-IN" sz="1800" dirty="0" err="1"/>
              <a:t>Sreenivasu</a:t>
            </a:r>
            <a:r>
              <a:rPr lang="en-IN" sz="1800" dirty="0"/>
              <a:t>, Tippanaboina Ramesh, Shaik Mohammad Fayaz, Kinnera Yarra </a:t>
            </a:r>
            <a:r>
              <a:rPr lang="en-IN" sz="1800" dirty="0" err="1"/>
              <a:t>Jakraiah</a:t>
            </a:r>
            <a:r>
              <a:rPr lang="en-IN" sz="1800" dirty="0"/>
              <a:t>, </a:t>
            </a:r>
          </a:p>
          <a:p>
            <a:pPr lvl="0" algn="ctr">
              <a:lnSpc>
                <a:spcPct val="150000"/>
              </a:lnSpc>
              <a:buClr>
                <a:schemeClr val="dk1"/>
              </a:buClr>
              <a:buSzPts val="1100"/>
            </a:pPr>
            <a:r>
              <a:rPr lang="en-IN" sz="1800" dirty="0"/>
              <a:t>Dharmapuri Siri, Sesha Bhargavi </a:t>
            </a:r>
            <a:r>
              <a:rPr lang="en-IN" sz="1800" dirty="0" err="1"/>
              <a:t>Velagaleti</a:t>
            </a:r>
            <a:r>
              <a:rPr lang="en-IN" sz="1800" dirty="0"/>
              <a:t> </a:t>
            </a:r>
            <a:endParaRPr sz="1800" dirty="0"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dirty="0">
                <a:solidFill>
                  <a:schemeClr val="dk1"/>
                </a:solidFill>
              </a:rPr>
              <a:t>Name of the Department : CSE</a:t>
            </a:r>
            <a:endParaRPr sz="2000" dirty="0">
              <a:solidFill>
                <a:schemeClr val="dk1"/>
              </a:solidFill>
            </a:endParaRPr>
          </a:p>
          <a:p>
            <a:pPr marL="396217" marR="417112" lvl="0" indent="0" algn="ctr" rtl="0">
              <a:lnSpc>
                <a:spcPct val="101725"/>
              </a:lnSpc>
              <a:spcBef>
                <a:spcPts val="545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Narasaraopeta Engineering College, Palnadu, Andhra Pradesh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584613" y="2000822"/>
            <a:ext cx="10792918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A blue and white logo&#10;&#10;AI-generated content may be incorrect.">
            <a:extLst>
              <a:ext uri="{FF2B5EF4-FFF2-40B4-BE49-F238E27FC236}">
                <a16:creationId xmlns:a16="http://schemas.microsoft.com/office/drawing/2014/main" id="{C48BBAFA-3E27-28F4-E0C6-9ACE6F64E0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8215" y="5610855"/>
            <a:ext cx="1963785" cy="974201"/>
          </a:xfrm>
          <a:prstGeom prst="rect">
            <a:avLst/>
          </a:prstGeom>
        </p:spPr>
      </p:pic>
      <p:pic>
        <p:nvPicPr>
          <p:cNvPr id="10" name="Picture 9" descr="A logo with a red blue and orange swirls">
            <a:extLst>
              <a:ext uri="{FF2B5EF4-FFF2-40B4-BE49-F238E27FC236}">
                <a16:creationId xmlns:a16="http://schemas.microsoft.com/office/drawing/2014/main" id="{E2E25BDF-00E9-72CA-6DC7-DCCC172C4A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8650" y="113134"/>
            <a:ext cx="3423032" cy="257681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26DAB26-CE9C-BEE5-9E51-C35E6A1178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2024" y="253498"/>
            <a:ext cx="1560870" cy="142514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">
          <a:extLst>
            <a:ext uri="{FF2B5EF4-FFF2-40B4-BE49-F238E27FC236}">
              <a16:creationId xmlns:a16="http://schemas.microsoft.com/office/drawing/2014/main" id="{408D5D3E-2638-0511-4F1A-5E5A69D71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:a16="http://schemas.microsoft.com/office/drawing/2014/main" id="{2EBE3D3B-44E9-6759-05D1-542927B7F132}"/>
              </a:ext>
            </a:extLst>
          </p:cNvPr>
          <p:cNvSpPr/>
          <p:nvPr/>
        </p:nvSpPr>
        <p:spPr>
          <a:xfrm>
            <a:off x="43108" y="6489191"/>
            <a:ext cx="12170664" cy="368807"/>
          </a:xfrm>
          <a:custGeom>
            <a:avLst/>
            <a:gdLst/>
            <a:ahLst/>
            <a:cxnLst/>
            <a:rect l="l" t="t" r="r" b="b"/>
            <a:pathLst>
              <a:path w="12170664" h="368807" extrusionOk="0">
                <a:moveTo>
                  <a:pt x="12170664" y="368807"/>
                </a:moveTo>
                <a:lnTo>
                  <a:pt x="12170664" y="0"/>
                </a:lnTo>
                <a:lnTo>
                  <a:pt x="0" y="0"/>
                </a:lnTo>
                <a:lnTo>
                  <a:pt x="0" y="368807"/>
                </a:lnTo>
                <a:lnTo>
                  <a:pt x="12170664" y="368807"/>
                </a:lnTo>
                <a:close/>
              </a:path>
            </a:pathLst>
          </a:custGeom>
          <a:solidFill>
            <a:srgbClr val="5B9BD4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2">
            <a:extLst>
              <a:ext uri="{FF2B5EF4-FFF2-40B4-BE49-F238E27FC236}">
                <a16:creationId xmlns:a16="http://schemas.microsoft.com/office/drawing/2014/main" id="{D64FAFC5-C74F-D677-46DA-D1A406BD563F}"/>
              </a:ext>
            </a:extLst>
          </p:cNvPr>
          <p:cNvSpPr txBox="1"/>
          <p:nvPr/>
        </p:nvSpPr>
        <p:spPr>
          <a:xfrm>
            <a:off x="916956" y="749575"/>
            <a:ext cx="46674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8600" rIns="0" bIns="0" anchor="t" anchorCtr="0">
            <a:noAutofit/>
          </a:bodyPr>
          <a:lstStyle/>
          <a:p>
            <a:pPr marL="12700" marR="0" lvl="0" indent="0" algn="l" rtl="0">
              <a:lnSpc>
                <a:spcPct val="1023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Presentation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2">
            <a:extLst>
              <a:ext uri="{FF2B5EF4-FFF2-40B4-BE49-F238E27FC236}">
                <a16:creationId xmlns:a16="http://schemas.microsoft.com/office/drawing/2014/main" id="{C67FD42B-9894-4802-36FC-E8197013A969}"/>
              </a:ext>
            </a:extLst>
          </p:cNvPr>
          <p:cNvSpPr txBox="1"/>
          <p:nvPr/>
        </p:nvSpPr>
        <p:spPr>
          <a:xfrm>
            <a:off x="3885685" y="749579"/>
            <a:ext cx="1764407" cy="585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8600" rIns="0" bIns="0" anchor="t" anchorCtr="0">
            <a:noAutofit/>
          </a:bodyPr>
          <a:lstStyle/>
          <a:p>
            <a:pPr marL="12700" marR="0" lvl="0" indent="0" algn="l" rtl="0">
              <a:lnSpc>
                <a:spcPct val="1023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Outline</a:t>
            </a:r>
            <a:endParaRPr sz="4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2">
            <a:extLst>
              <a:ext uri="{FF2B5EF4-FFF2-40B4-BE49-F238E27FC236}">
                <a16:creationId xmlns:a16="http://schemas.microsoft.com/office/drawing/2014/main" id="{206BDD46-96AD-98A0-4F13-94390A28C095}"/>
              </a:ext>
            </a:extLst>
          </p:cNvPr>
          <p:cNvSpPr txBox="1"/>
          <p:nvPr/>
        </p:nvSpPr>
        <p:spPr>
          <a:xfrm>
            <a:off x="1274480" y="1658100"/>
            <a:ext cx="8831217" cy="396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0275" rIns="0" bIns="0" anchor="t" anchorCtr="0">
            <a:noAutofit/>
          </a:bodyPr>
          <a:lstStyle/>
          <a:p>
            <a:pPr marL="457200" marR="59387" lvl="0" indent="-425450" algn="l" rtl="0">
              <a:lnSpc>
                <a:spcPct val="10306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Calibri"/>
              <a:buChar char="●"/>
            </a:pPr>
            <a:r>
              <a:rPr lang="en-US" sz="3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Introduction/ Background </a:t>
            </a:r>
            <a:endParaRPr sz="3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59387" lvl="0" indent="-425450" algn="l" rtl="0">
              <a:lnSpc>
                <a:spcPct val="10306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Calibri"/>
              <a:buChar char="●"/>
            </a:pPr>
            <a:r>
              <a:rPr lang="en-GB" sz="3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 Statement, Dataset Description</a:t>
            </a:r>
            <a:endParaRPr sz="3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59387" lvl="0" indent="-425450" algn="l" rtl="0">
              <a:lnSpc>
                <a:spcPct val="10306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Calibri"/>
              <a:buChar char="●"/>
            </a:pPr>
            <a:r>
              <a:rPr lang="en-US" sz="3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Objectives </a:t>
            </a:r>
          </a:p>
          <a:p>
            <a:pPr marL="457200" marR="59387" lvl="0" indent="-425450" algn="l" rtl="0">
              <a:lnSpc>
                <a:spcPct val="10306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Calibri"/>
              <a:buChar char="●"/>
            </a:pPr>
            <a:r>
              <a:rPr lang="en-GB" sz="3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Methodology/ Architectures</a:t>
            </a:r>
            <a:endParaRPr sz="3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59387" lvl="0" indent="-425450" algn="l" rtl="0">
              <a:lnSpc>
                <a:spcPct val="10306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Calibri"/>
              <a:buChar char="●"/>
            </a:pPr>
            <a:r>
              <a:rPr lang="en-US" sz="3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Performance Measures </a:t>
            </a:r>
            <a:endParaRPr sz="3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59387" lvl="0" indent="-425450" algn="l" rtl="0">
              <a:lnSpc>
                <a:spcPct val="10306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Calibri"/>
              <a:buChar char="●"/>
            </a:pPr>
            <a:r>
              <a:rPr lang="en-US" sz="3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Results and Analysis </a:t>
            </a:r>
            <a:endParaRPr sz="3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59387" lvl="0" indent="-425450" algn="l" rtl="0">
              <a:lnSpc>
                <a:spcPct val="10306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Calibri"/>
              <a:buChar char="●"/>
            </a:pPr>
            <a:r>
              <a:rPr lang="en-US" sz="3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Conclusion and Future Scope </a:t>
            </a:r>
          </a:p>
          <a:p>
            <a:pPr marL="457200" marR="59387" lvl="0" indent="-425450" algn="l" rtl="0">
              <a:lnSpc>
                <a:spcPct val="10306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Calibri"/>
              <a:buChar char="●"/>
            </a:pPr>
            <a:r>
              <a:rPr lang="en-US" sz="3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References </a:t>
            </a:r>
          </a:p>
        </p:txBody>
      </p:sp>
      <p:sp>
        <p:nvSpPr>
          <p:cNvPr id="2" name="Google Shape;11;p1">
            <a:extLst>
              <a:ext uri="{FF2B5EF4-FFF2-40B4-BE49-F238E27FC236}">
                <a16:creationId xmlns:a16="http://schemas.microsoft.com/office/drawing/2014/main" id="{684DABC7-D35B-5D6A-DFC2-9E8D49FC247B}"/>
              </a:ext>
            </a:extLst>
          </p:cNvPr>
          <p:cNvSpPr/>
          <p:nvPr/>
        </p:nvSpPr>
        <p:spPr>
          <a:xfrm>
            <a:off x="21336" y="6585056"/>
            <a:ext cx="12170664" cy="368807"/>
          </a:xfrm>
          <a:custGeom>
            <a:avLst/>
            <a:gdLst/>
            <a:ahLst/>
            <a:cxnLst/>
            <a:rect l="l" t="t" r="r" b="b"/>
            <a:pathLst>
              <a:path w="12170664" h="368807" extrusionOk="0">
                <a:moveTo>
                  <a:pt x="12170664" y="368807"/>
                </a:moveTo>
                <a:lnTo>
                  <a:pt x="12170664" y="0"/>
                </a:lnTo>
                <a:lnTo>
                  <a:pt x="0" y="0"/>
                </a:lnTo>
                <a:lnTo>
                  <a:pt x="0" y="368807"/>
                </a:lnTo>
                <a:lnTo>
                  <a:pt x="12170664" y="368807"/>
                </a:lnTo>
                <a:close/>
              </a:path>
            </a:pathLst>
          </a:custGeom>
          <a:solidFill>
            <a:srgbClr val="5B9BD4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 algn="ctr"/>
            <a:r>
              <a:rPr lang="en-US" sz="1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600" b="1" dirty="0"/>
              <a:t>2025 IEEE International Conference on Recent Advances in Computing and Systems</a:t>
            </a:r>
            <a:r>
              <a:rPr lang="en-US" sz="1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19 -20 Dec 2025 | ABV-IIITM Gwalior India</a:t>
            </a:r>
            <a:endParaRPr sz="16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1B6791-C9E2-1FEB-8139-301608B6DB32}"/>
              </a:ext>
            </a:extLst>
          </p:cNvPr>
          <p:cNvSpPr txBox="1"/>
          <p:nvPr/>
        </p:nvSpPr>
        <p:spPr>
          <a:xfrm>
            <a:off x="6410739" y="6239437"/>
            <a:ext cx="4828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727</a:t>
            </a:r>
          </a:p>
        </p:txBody>
      </p:sp>
    </p:spTree>
    <p:extLst>
      <p:ext uri="{BB962C8B-B14F-4D97-AF65-F5344CB8AC3E}">
        <p14:creationId xmlns:p14="http://schemas.microsoft.com/office/powerpoint/2010/main" val="21520162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/>
          <p:cNvSpPr/>
          <p:nvPr/>
        </p:nvSpPr>
        <p:spPr>
          <a:xfrm>
            <a:off x="21336" y="6489191"/>
            <a:ext cx="12170664" cy="368807"/>
          </a:xfrm>
          <a:custGeom>
            <a:avLst/>
            <a:gdLst/>
            <a:ahLst/>
            <a:cxnLst/>
            <a:rect l="l" t="t" r="r" b="b"/>
            <a:pathLst>
              <a:path w="12170664" h="368807" extrusionOk="0">
                <a:moveTo>
                  <a:pt x="12170664" y="368807"/>
                </a:moveTo>
                <a:lnTo>
                  <a:pt x="12170664" y="0"/>
                </a:lnTo>
                <a:lnTo>
                  <a:pt x="0" y="0"/>
                </a:lnTo>
                <a:lnTo>
                  <a:pt x="0" y="368807"/>
                </a:lnTo>
                <a:lnTo>
                  <a:pt x="12170664" y="368807"/>
                </a:lnTo>
                <a:close/>
              </a:path>
            </a:pathLst>
          </a:custGeom>
          <a:solidFill>
            <a:srgbClr val="5B9BD4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2"/>
          <p:cNvSpPr txBox="1"/>
          <p:nvPr/>
        </p:nvSpPr>
        <p:spPr>
          <a:xfrm>
            <a:off x="3762300" y="0"/>
            <a:ext cx="46674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8600" rIns="0" bIns="0" anchor="t" anchorCtr="0">
            <a:noAutofit/>
          </a:bodyPr>
          <a:lstStyle/>
          <a:p>
            <a:pPr marL="12700" marR="0" lvl="0" indent="0" algn="ctr" rtl="0">
              <a:lnSpc>
                <a:spcPct val="1023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</a:p>
        </p:txBody>
      </p:sp>
      <p:sp>
        <p:nvSpPr>
          <p:cNvPr id="2" name="Google Shape;11;p1">
            <a:extLst>
              <a:ext uri="{FF2B5EF4-FFF2-40B4-BE49-F238E27FC236}">
                <a16:creationId xmlns:a16="http://schemas.microsoft.com/office/drawing/2014/main" id="{10AFFE40-C34E-48B2-FAB8-5E44A76D2E35}"/>
              </a:ext>
            </a:extLst>
          </p:cNvPr>
          <p:cNvSpPr/>
          <p:nvPr/>
        </p:nvSpPr>
        <p:spPr>
          <a:xfrm>
            <a:off x="21336" y="6585056"/>
            <a:ext cx="12170664" cy="368807"/>
          </a:xfrm>
          <a:custGeom>
            <a:avLst/>
            <a:gdLst/>
            <a:ahLst/>
            <a:cxnLst/>
            <a:rect l="l" t="t" r="r" b="b"/>
            <a:pathLst>
              <a:path w="12170664" h="368807" extrusionOk="0">
                <a:moveTo>
                  <a:pt x="12170664" y="368807"/>
                </a:moveTo>
                <a:lnTo>
                  <a:pt x="12170664" y="0"/>
                </a:lnTo>
                <a:lnTo>
                  <a:pt x="0" y="0"/>
                </a:lnTo>
                <a:lnTo>
                  <a:pt x="0" y="368807"/>
                </a:lnTo>
                <a:lnTo>
                  <a:pt x="12170664" y="368807"/>
                </a:lnTo>
                <a:close/>
              </a:path>
            </a:pathLst>
          </a:custGeom>
          <a:solidFill>
            <a:srgbClr val="5B9BD4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 algn="ctr"/>
            <a:r>
              <a:rPr lang="en-US" sz="1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600" b="1" dirty="0"/>
              <a:t>2025 IEEE International Conference on Recent Advances in Computing and Systems</a:t>
            </a:r>
            <a:r>
              <a:rPr lang="en-US" sz="1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19 -20 Dec 2025 | ABV-IIITM Gwalior India</a:t>
            </a:r>
            <a:endParaRPr sz="16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C9CCBDE2-6D5D-C8A0-8530-EB15CF5D17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154159"/>
            <a:ext cx="264816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D4C405D8-BF73-0660-9F4C-6F2DE008EC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081" y="2044376"/>
            <a:ext cx="312495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22C765-5C7F-E7D0-101A-3996319B57FF}"/>
              </a:ext>
            </a:extLst>
          </p:cNvPr>
          <p:cNvSpPr txBox="1"/>
          <p:nvPr/>
        </p:nvSpPr>
        <p:spPr>
          <a:xfrm>
            <a:off x="536713" y="1451113"/>
            <a:ext cx="4732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E8407451-3A91-AE4B-658E-B8CE9D0D3B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817" y="680870"/>
            <a:ext cx="10098383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Intelligent Tutoring Systems (ITS) aim to provide personalized learning by adapting content based on student behavior.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Traditional ITS rely heavily on domain experts for annotations and rule-based knowledge modeling.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Expert dependency limits scalability, flexibility, and real-time adaptability of tutoring systems.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Advances in deep learning enable models to learn directly from raw student interaction data.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Self-supervised learning removes the need for expert-labeled data by discovering patterns automatically.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Sequential student interactions can be effectively modeled using deep learning architectures such as RNNs, CNNs, and Transformers.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This research proposes an expert-agnostic ITS framework that predicts student performance using self-supervised learning on the EdNet-KT4 dataset.</a:t>
            </a:r>
          </a:p>
          <a:p>
            <a:br>
              <a:rPr lang="en-US" sz="2000" dirty="0"/>
            </a:b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A7C3555-5AFF-5121-039C-3D043495ED50}"/>
              </a:ext>
            </a:extLst>
          </p:cNvPr>
          <p:cNvSpPr txBox="1"/>
          <p:nvPr/>
        </p:nvSpPr>
        <p:spPr>
          <a:xfrm>
            <a:off x="6410739" y="6239437"/>
            <a:ext cx="4828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727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">
          <a:extLst>
            <a:ext uri="{FF2B5EF4-FFF2-40B4-BE49-F238E27FC236}">
              <a16:creationId xmlns:a16="http://schemas.microsoft.com/office/drawing/2014/main" id="{02668F5E-E0F7-24FD-6B9F-6D11CF133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:a16="http://schemas.microsoft.com/office/drawing/2014/main" id="{B32B4B6E-DA22-9276-53D0-95E34E1185F5}"/>
              </a:ext>
            </a:extLst>
          </p:cNvPr>
          <p:cNvSpPr/>
          <p:nvPr/>
        </p:nvSpPr>
        <p:spPr>
          <a:xfrm>
            <a:off x="21336" y="6489191"/>
            <a:ext cx="12170664" cy="368807"/>
          </a:xfrm>
          <a:custGeom>
            <a:avLst/>
            <a:gdLst/>
            <a:ahLst/>
            <a:cxnLst/>
            <a:rect l="l" t="t" r="r" b="b"/>
            <a:pathLst>
              <a:path w="12170664" h="368807" extrusionOk="0">
                <a:moveTo>
                  <a:pt x="12170664" y="368807"/>
                </a:moveTo>
                <a:lnTo>
                  <a:pt x="12170664" y="0"/>
                </a:lnTo>
                <a:lnTo>
                  <a:pt x="0" y="0"/>
                </a:lnTo>
                <a:lnTo>
                  <a:pt x="0" y="368807"/>
                </a:lnTo>
                <a:lnTo>
                  <a:pt x="12170664" y="368807"/>
                </a:lnTo>
                <a:close/>
              </a:path>
            </a:pathLst>
          </a:custGeom>
          <a:solidFill>
            <a:srgbClr val="5B9BD4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2">
            <a:extLst>
              <a:ext uri="{FF2B5EF4-FFF2-40B4-BE49-F238E27FC236}">
                <a16:creationId xmlns:a16="http://schemas.microsoft.com/office/drawing/2014/main" id="{6491F4FA-6393-D493-1B7C-5F501886A4D0}"/>
              </a:ext>
            </a:extLst>
          </p:cNvPr>
          <p:cNvSpPr txBox="1"/>
          <p:nvPr/>
        </p:nvSpPr>
        <p:spPr>
          <a:xfrm>
            <a:off x="764800" y="0"/>
            <a:ext cx="46674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8600" rIns="0" bIns="0" anchor="t" anchorCtr="0">
            <a:noAutofit/>
          </a:bodyPr>
          <a:lstStyle/>
          <a:p>
            <a:pPr marL="12700" marR="0" lvl="0" indent="0" algn="ctr" rtl="0">
              <a:lnSpc>
                <a:spcPct val="1023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</a:p>
        </p:txBody>
      </p:sp>
      <p:sp>
        <p:nvSpPr>
          <p:cNvPr id="2" name="Google Shape;11;p1">
            <a:extLst>
              <a:ext uri="{FF2B5EF4-FFF2-40B4-BE49-F238E27FC236}">
                <a16:creationId xmlns:a16="http://schemas.microsoft.com/office/drawing/2014/main" id="{D4BA7A95-5F25-C9A5-B6FD-A16E5CE317A1}"/>
              </a:ext>
            </a:extLst>
          </p:cNvPr>
          <p:cNvSpPr/>
          <p:nvPr/>
        </p:nvSpPr>
        <p:spPr>
          <a:xfrm>
            <a:off x="21336" y="6585056"/>
            <a:ext cx="12170664" cy="368807"/>
          </a:xfrm>
          <a:custGeom>
            <a:avLst/>
            <a:gdLst/>
            <a:ahLst/>
            <a:cxnLst/>
            <a:rect l="l" t="t" r="r" b="b"/>
            <a:pathLst>
              <a:path w="12170664" h="368807" extrusionOk="0">
                <a:moveTo>
                  <a:pt x="12170664" y="368807"/>
                </a:moveTo>
                <a:lnTo>
                  <a:pt x="12170664" y="0"/>
                </a:lnTo>
                <a:lnTo>
                  <a:pt x="0" y="0"/>
                </a:lnTo>
                <a:lnTo>
                  <a:pt x="0" y="368807"/>
                </a:lnTo>
                <a:lnTo>
                  <a:pt x="12170664" y="368807"/>
                </a:lnTo>
                <a:close/>
              </a:path>
            </a:pathLst>
          </a:custGeom>
          <a:solidFill>
            <a:srgbClr val="5B9BD4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 algn="ctr"/>
            <a:r>
              <a:rPr lang="en-US" sz="1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600" b="1" dirty="0"/>
              <a:t>2025 IEEE International Conference on Recent Advances in Computing and Systems</a:t>
            </a:r>
            <a:r>
              <a:rPr lang="en-US" sz="1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19 -20 Dec 2025 | ABV-IIITM Gwalior India</a:t>
            </a:r>
            <a:endParaRPr sz="16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C979391-57C0-1ACC-605E-B049CCAEC5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154159"/>
            <a:ext cx="264816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B855DFFD-4CFE-BBEC-D67F-0F4D3AB10A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081" y="2044376"/>
            <a:ext cx="312495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93828F-923F-40FE-D702-6BD27DB8AFF5}"/>
              </a:ext>
            </a:extLst>
          </p:cNvPr>
          <p:cNvSpPr txBox="1"/>
          <p:nvPr/>
        </p:nvSpPr>
        <p:spPr>
          <a:xfrm>
            <a:off x="536713" y="1451113"/>
            <a:ext cx="4732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AE36FD1-912C-BFC7-45FB-EF74A72C1071}"/>
              </a:ext>
            </a:extLst>
          </p:cNvPr>
          <p:cNvSpPr txBox="1"/>
          <p:nvPr/>
        </p:nvSpPr>
        <p:spPr>
          <a:xfrm>
            <a:off x="6410739" y="6239437"/>
            <a:ext cx="4828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727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25BD57E-1759-B2C4-5155-ACFBD53C1C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000" y="824338"/>
            <a:ext cx="5995000" cy="5170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Existing Intelligent Tutoring Systems depend heavily on expert-defined rules and manually annotated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Creating expert-labeled datasets is time-consuming, costly, and difficult to scale across multiple domains.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Expert-driven systems limit flexibility and real-time adaptability to diverse learner behaviors.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Large-scale student interaction data remains underutilized due to reliance on handcrafted features and labels.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Many traditional models struggle to generalize across different subjects and learner populations.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There is a need for an intelligent tutoring framework that can learn directly from raw interaction data without expert intervention.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The challenge is to design an expert-agnostic, self-supervised system that accurately models student behavior and performance.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3441A60E-03AA-2359-82CC-E27BDCA284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903049"/>
            <a:ext cx="5660287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The study uses the </a:t>
            </a:r>
            <a:r>
              <a:rPr lang="en-US" sz="1800" b="1" dirty="0"/>
              <a:t>EdNet-KT4 dataset</a:t>
            </a:r>
            <a:r>
              <a:rPr lang="en-US" sz="1800" dirty="0"/>
              <a:t>, collected from the Santa online tutoring system.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It contains large-scale student interaction logs from approximately </a:t>
            </a:r>
            <a:r>
              <a:rPr lang="en-US" sz="1800" b="1" dirty="0"/>
              <a:t>300,000 learners</a:t>
            </a:r>
            <a:r>
              <a:rPr lang="en-US" sz="18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Each student’s data is stored as an independent file, capturing detailed learning behavior.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The dataset includes temporal, behavioral, and performance-related features.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Key attributes include </a:t>
            </a:r>
            <a:r>
              <a:rPr lang="en-US" sz="2000" b="1" dirty="0"/>
              <a:t>timestamp, action type, item ID, cursor time, source, user answer, and platform.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A filtered subset of interactions was selected to maintain representative data while ensuring manageable size.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The dataset provides rich sequential information suitable for self-supervised and deep learning-based student modeling.</a:t>
            </a:r>
          </a:p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Google Shape;22;p2">
            <a:extLst>
              <a:ext uri="{FF2B5EF4-FFF2-40B4-BE49-F238E27FC236}">
                <a16:creationId xmlns:a16="http://schemas.microsoft.com/office/drawing/2014/main" id="{D6C79A16-7DE9-997D-C2DE-8ACF084AA257}"/>
              </a:ext>
            </a:extLst>
          </p:cNvPr>
          <p:cNvSpPr txBox="1"/>
          <p:nvPr/>
        </p:nvSpPr>
        <p:spPr>
          <a:xfrm>
            <a:off x="6592443" y="-5119"/>
            <a:ext cx="46674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8600" rIns="0" bIns="0" anchor="t" anchorCtr="0">
            <a:noAutofit/>
          </a:bodyPr>
          <a:lstStyle/>
          <a:p>
            <a:pPr marL="12700" marR="0" lvl="0" indent="0" algn="ctr" rtl="0">
              <a:lnSpc>
                <a:spcPct val="1023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Dataset Description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5451E37-B1F9-348F-48C9-8CD5C48D48D4}"/>
              </a:ext>
            </a:extLst>
          </p:cNvPr>
          <p:cNvCxnSpPr>
            <a:cxnSpLocks/>
          </p:cNvCxnSpPr>
          <p:nvPr/>
        </p:nvCxnSpPr>
        <p:spPr>
          <a:xfrm>
            <a:off x="6023113" y="287381"/>
            <a:ext cx="0" cy="595205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99203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">
          <a:extLst>
            <a:ext uri="{FF2B5EF4-FFF2-40B4-BE49-F238E27FC236}">
              <a16:creationId xmlns:a16="http://schemas.microsoft.com/office/drawing/2014/main" id="{53821A04-A3D7-3A64-8AF0-5D3FA38E99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:a16="http://schemas.microsoft.com/office/drawing/2014/main" id="{967496EB-2E00-1D01-7567-04FAA9244D4E}"/>
              </a:ext>
            </a:extLst>
          </p:cNvPr>
          <p:cNvSpPr/>
          <p:nvPr/>
        </p:nvSpPr>
        <p:spPr>
          <a:xfrm>
            <a:off x="21336" y="6489191"/>
            <a:ext cx="12170664" cy="368807"/>
          </a:xfrm>
          <a:custGeom>
            <a:avLst/>
            <a:gdLst/>
            <a:ahLst/>
            <a:cxnLst/>
            <a:rect l="l" t="t" r="r" b="b"/>
            <a:pathLst>
              <a:path w="12170664" h="368807" extrusionOk="0">
                <a:moveTo>
                  <a:pt x="12170664" y="368807"/>
                </a:moveTo>
                <a:lnTo>
                  <a:pt x="12170664" y="0"/>
                </a:lnTo>
                <a:lnTo>
                  <a:pt x="0" y="0"/>
                </a:lnTo>
                <a:lnTo>
                  <a:pt x="0" y="368807"/>
                </a:lnTo>
                <a:lnTo>
                  <a:pt x="12170664" y="368807"/>
                </a:lnTo>
                <a:close/>
              </a:path>
            </a:pathLst>
          </a:custGeom>
          <a:solidFill>
            <a:srgbClr val="5B9BD4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2">
            <a:extLst>
              <a:ext uri="{FF2B5EF4-FFF2-40B4-BE49-F238E27FC236}">
                <a16:creationId xmlns:a16="http://schemas.microsoft.com/office/drawing/2014/main" id="{C648CA83-9C57-71D0-ED1B-87FEDB828ADA}"/>
              </a:ext>
            </a:extLst>
          </p:cNvPr>
          <p:cNvSpPr txBox="1"/>
          <p:nvPr/>
        </p:nvSpPr>
        <p:spPr>
          <a:xfrm>
            <a:off x="3762300" y="0"/>
            <a:ext cx="46674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8600" rIns="0" bIns="0" anchor="t" anchorCtr="0">
            <a:noAutofit/>
          </a:bodyPr>
          <a:lstStyle/>
          <a:p>
            <a:pPr marL="12700" marR="0" lvl="0" indent="0" algn="ctr" rtl="0">
              <a:lnSpc>
                <a:spcPct val="1023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OBJECTIVES</a:t>
            </a:r>
          </a:p>
        </p:txBody>
      </p:sp>
      <p:sp>
        <p:nvSpPr>
          <p:cNvPr id="2" name="Google Shape;11;p1">
            <a:extLst>
              <a:ext uri="{FF2B5EF4-FFF2-40B4-BE49-F238E27FC236}">
                <a16:creationId xmlns:a16="http://schemas.microsoft.com/office/drawing/2014/main" id="{FFE2CBFB-43EB-46E4-C077-E01C412ECBC5}"/>
              </a:ext>
            </a:extLst>
          </p:cNvPr>
          <p:cNvSpPr/>
          <p:nvPr/>
        </p:nvSpPr>
        <p:spPr>
          <a:xfrm>
            <a:off x="21336" y="6585056"/>
            <a:ext cx="12170664" cy="368807"/>
          </a:xfrm>
          <a:custGeom>
            <a:avLst/>
            <a:gdLst/>
            <a:ahLst/>
            <a:cxnLst/>
            <a:rect l="l" t="t" r="r" b="b"/>
            <a:pathLst>
              <a:path w="12170664" h="368807" extrusionOk="0">
                <a:moveTo>
                  <a:pt x="12170664" y="368807"/>
                </a:moveTo>
                <a:lnTo>
                  <a:pt x="12170664" y="0"/>
                </a:lnTo>
                <a:lnTo>
                  <a:pt x="0" y="0"/>
                </a:lnTo>
                <a:lnTo>
                  <a:pt x="0" y="368807"/>
                </a:lnTo>
                <a:lnTo>
                  <a:pt x="12170664" y="368807"/>
                </a:lnTo>
                <a:close/>
              </a:path>
            </a:pathLst>
          </a:custGeom>
          <a:solidFill>
            <a:srgbClr val="5B9BD4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 algn="ctr"/>
            <a:r>
              <a:rPr lang="en-US" sz="1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600" b="1" dirty="0"/>
              <a:t>2025 IEEE International Conference on Recent Advances in Computing and Systems</a:t>
            </a:r>
            <a:r>
              <a:rPr lang="en-US" sz="1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19 -20 Dec 2025 | ABV-IIITM Gwalior India</a:t>
            </a:r>
            <a:endParaRPr sz="16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7F249255-321D-A53B-A6D1-53E419E2DB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154159"/>
            <a:ext cx="264816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6C0C74AC-98D5-412E-0E7A-4819552647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081" y="2044376"/>
            <a:ext cx="312495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7B9A92-7C4F-63C2-60F3-5BCF5868E9CB}"/>
              </a:ext>
            </a:extLst>
          </p:cNvPr>
          <p:cNvSpPr txBox="1"/>
          <p:nvPr/>
        </p:nvSpPr>
        <p:spPr>
          <a:xfrm>
            <a:off x="536713" y="1451113"/>
            <a:ext cx="4732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1CEA3EF-9DB8-FF2F-FAE9-1C402E964F84}"/>
              </a:ext>
            </a:extLst>
          </p:cNvPr>
          <p:cNvSpPr txBox="1"/>
          <p:nvPr/>
        </p:nvSpPr>
        <p:spPr>
          <a:xfrm>
            <a:off x="6410739" y="6239437"/>
            <a:ext cx="4828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727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8139180C-5291-B5D5-721F-2D47560C92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914958"/>
            <a:ext cx="11274287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To design an </a:t>
            </a:r>
            <a:r>
              <a:rPr lang="en-US" sz="2000" b="1" dirty="0"/>
              <a:t>expert-agnostic Intelligent Tutoring System</a:t>
            </a:r>
            <a:r>
              <a:rPr lang="en-US" sz="2000" dirty="0"/>
              <a:t> that does not rely on domain experts or manual annotations.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To apply </a:t>
            </a:r>
            <a:r>
              <a:rPr lang="en-US" sz="2000" b="1" dirty="0"/>
              <a:t>self-supervised learning</a:t>
            </a:r>
            <a:r>
              <a:rPr lang="en-US" sz="2000" dirty="0"/>
              <a:t> for modeling student behavior using raw interaction data.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To evaluate and compare multiple deep learning architectures for sequential student interaction modeling.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To identify the most effective model for predicting student performance and engagement.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To demonstrate that high-accuracy student modeling can be achieved using unlabeled, large-scale educational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55610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">
          <a:extLst>
            <a:ext uri="{FF2B5EF4-FFF2-40B4-BE49-F238E27FC236}">
              <a16:creationId xmlns:a16="http://schemas.microsoft.com/office/drawing/2014/main" id="{BDDBCFD0-7791-3193-EBB8-74C8FA30A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:a16="http://schemas.microsoft.com/office/drawing/2014/main" id="{2163B028-5540-E320-103D-5075435D50E1}"/>
              </a:ext>
            </a:extLst>
          </p:cNvPr>
          <p:cNvSpPr/>
          <p:nvPr/>
        </p:nvSpPr>
        <p:spPr>
          <a:xfrm>
            <a:off x="21336" y="6489191"/>
            <a:ext cx="12170664" cy="368807"/>
          </a:xfrm>
          <a:custGeom>
            <a:avLst/>
            <a:gdLst/>
            <a:ahLst/>
            <a:cxnLst/>
            <a:rect l="l" t="t" r="r" b="b"/>
            <a:pathLst>
              <a:path w="12170664" h="368807" extrusionOk="0">
                <a:moveTo>
                  <a:pt x="12170664" y="368807"/>
                </a:moveTo>
                <a:lnTo>
                  <a:pt x="12170664" y="0"/>
                </a:lnTo>
                <a:lnTo>
                  <a:pt x="0" y="0"/>
                </a:lnTo>
                <a:lnTo>
                  <a:pt x="0" y="368807"/>
                </a:lnTo>
                <a:lnTo>
                  <a:pt x="12170664" y="368807"/>
                </a:lnTo>
                <a:close/>
              </a:path>
            </a:pathLst>
          </a:custGeom>
          <a:solidFill>
            <a:srgbClr val="5B9BD4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2">
            <a:extLst>
              <a:ext uri="{FF2B5EF4-FFF2-40B4-BE49-F238E27FC236}">
                <a16:creationId xmlns:a16="http://schemas.microsoft.com/office/drawing/2014/main" id="{E9A83C38-7777-8EE9-6E3C-5BFBBBA710FB}"/>
              </a:ext>
            </a:extLst>
          </p:cNvPr>
          <p:cNvSpPr txBox="1"/>
          <p:nvPr/>
        </p:nvSpPr>
        <p:spPr>
          <a:xfrm>
            <a:off x="3689413" y="0"/>
            <a:ext cx="46674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8600" rIns="0" bIns="0" anchor="t" anchorCtr="0">
            <a:noAutofit/>
          </a:bodyPr>
          <a:lstStyle/>
          <a:p>
            <a:pPr marL="12700" marR="0" lvl="0" indent="0" algn="ctr" rtl="0">
              <a:lnSpc>
                <a:spcPct val="1023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METHODOLOGY</a:t>
            </a:r>
          </a:p>
        </p:txBody>
      </p:sp>
      <p:sp>
        <p:nvSpPr>
          <p:cNvPr id="2" name="Google Shape;11;p1">
            <a:extLst>
              <a:ext uri="{FF2B5EF4-FFF2-40B4-BE49-F238E27FC236}">
                <a16:creationId xmlns:a16="http://schemas.microsoft.com/office/drawing/2014/main" id="{6B2EB6BF-06CA-6F89-BB9B-5AAD58B4EFC9}"/>
              </a:ext>
            </a:extLst>
          </p:cNvPr>
          <p:cNvSpPr/>
          <p:nvPr/>
        </p:nvSpPr>
        <p:spPr>
          <a:xfrm>
            <a:off x="21336" y="6585056"/>
            <a:ext cx="12170664" cy="368807"/>
          </a:xfrm>
          <a:custGeom>
            <a:avLst/>
            <a:gdLst/>
            <a:ahLst/>
            <a:cxnLst/>
            <a:rect l="l" t="t" r="r" b="b"/>
            <a:pathLst>
              <a:path w="12170664" h="368807" extrusionOk="0">
                <a:moveTo>
                  <a:pt x="12170664" y="368807"/>
                </a:moveTo>
                <a:lnTo>
                  <a:pt x="12170664" y="0"/>
                </a:lnTo>
                <a:lnTo>
                  <a:pt x="0" y="0"/>
                </a:lnTo>
                <a:lnTo>
                  <a:pt x="0" y="368807"/>
                </a:lnTo>
                <a:lnTo>
                  <a:pt x="12170664" y="368807"/>
                </a:lnTo>
                <a:close/>
              </a:path>
            </a:pathLst>
          </a:custGeom>
          <a:solidFill>
            <a:srgbClr val="5B9BD4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 algn="ctr"/>
            <a:r>
              <a:rPr lang="en-US" sz="1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600" b="1" dirty="0"/>
              <a:t>2025 IEEE International Conference on Recent Advances in Computing and Systems</a:t>
            </a:r>
            <a:r>
              <a:rPr lang="en-US" sz="1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19 -20 Dec 2025 | ABV-IIITM Gwalior India</a:t>
            </a:r>
            <a:endParaRPr sz="16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633C4F9D-BE32-7C92-6D1A-FE79B3813A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154159"/>
            <a:ext cx="264816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448C8F5D-6F93-B635-BA52-9C1EABD2C3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081" y="2044376"/>
            <a:ext cx="312495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F1A9D3-446C-EC1C-6385-4DD9E671A913}"/>
              </a:ext>
            </a:extLst>
          </p:cNvPr>
          <p:cNvSpPr txBox="1"/>
          <p:nvPr/>
        </p:nvSpPr>
        <p:spPr>
          <a:xfrm>
            <a:off x="536713" y="1451113"/>
            <a:ext cx="4732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3542320-34BB-2EFD-7D59-E57AD5881DA4}"/>
              </a:ext>
            </a:extLst>
          </p:cNvPr>
          <p:cNvSpPr txBox="1"/>
          <p:nvPr/>
        </p:nvSpPr>
        <p:spPr>
          <a:xfrm>
            <a:off x="6410739" y="6239437"/>
            <a:ext cx="4828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727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FBA5D196-1F9F-8ABA-8EE0-1D7537A345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816" y="1965671"/>
            <a:ext cx="5995000" cy="2893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Overall Pipeline :</a:t>
            </a:r>
            <a:r>
              <a:rPr lang="en-US" b="1" dirty="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Dataset Selection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Data Preprocessing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Feature Engineering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Sequence Preparation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Model Development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Training and Optimization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Performance Evaluation</a:t>
            </a:r>
          </a:p>
          <a:p>
            <a:endParaRPr lang="en-US" sz="1800" b="1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87961D5-35AF-38CC-37CF-807F47EDEC70}"/>
              </a:ext>
            </a:extLst>
          </p:cNvPr>
          <p:cNvCxnSpPr>
            <a:cxnSpLocks/>
          </p:cNvCxnSpPr>
          <p:nvPr/>
        </p:nvCxnSpPr>
        <p:spPr>
          <a:xfrm>
            <a:off x="6023113" y="585000"/>
            <a:ext cx="0" cy="565443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300F228-0C8A-2591-F052-5A35F885DEE9}"/>
              </a:ext>
            </a:extLst>
          </p:cNvPr>
          <p:cNvSpPr txBox="1"/>
          <p:nvPr/>
        </p:nvSpPr>
        <p:spPr>
          <a:xfrm>
            <a:off x="7950023" y="5743080"/>
            <a:ext cx="23839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Fig: Architecture Diagram</a:t>
            </a:r>
          </a:p>
        </p:txBody>
      </p:sp>
      <p:pic>
        <p:nvPicPr>
          <p:cNvPr id="4" name="Content Placeholder 9">
            <a:extLst>
              <a:ext uri="{FF2B5EF4-FFF2-40B4-BE49-F238E27FC236}">
                <a16:creationId xmlns:a16="http://schemas.microsoft.com/office/drawing/2014/main" id="{F0BD4AA6-358A-D443-9B9F-A9D09721C8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8216" y="1154165"/>
            <a:ext cx="4357354" cy="4351338"/>
          </a:xfrm>
        </p:spPr>
      </p:pic>
    </p:spTree>
    <p:extLst>
      <p:ext uri="{BB962C8B-B14F-4D97-AF65-F5344CB8AC3E}">
        <p14:creationId xmlns:p14="http://schemas.microsoft.com/office/powerpoint/2010/main" val="21219536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">
          <a:extLst>
            <a:ext uri="{FF2B5EF4-FFF2-40B4-BE49-F238E27FC236}">
              <a16:creationId xmlns:a16="http://schemas.microsoft.com/office/drawing/2014/main" id="{7766A4C3-B84F-81CB-7F87-B386A89A3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:a16="http://schemas.microsoft.com/office/drawing/2014/main" id="{7897133B-CCBA-7077-F784-97712DE9BD75}"/>
              </a:ext>
            </a:extLst>
          </p:cNvPr>
          <p:cNvSpPr/>
          <p:nvPr/>
        </p:nvSpPr>
        <p:spPr>
          <a:xfrm>
            <a:off x="21336" y="6489191"/>
            <a:ext cx="12170664" cy="368807"/>
          </a:xfrm>
          <a:custGeom>
            <a:avLst/>
            <a:gdLst/>
            <a:ahLst/>
            <a:cxnLst/>
            <a:rect l="l" t="t" r="r" b="b"/>
            <a:pathLst>
              <a:path w="12170664" h="368807" extrusionOk="0">
                <a:moveTo>
                  <a:pt x="12170664" y="368807"/>
                </a:moveTo>
                <a:lnTo>
                  <a:pt x="12170664" y="0"/>
                </a:lnTo>
                <a:lnTo>
                  <a:pt x="0" y="0"/>
                </a:lnTo>
                <a:lnTo>
                  <a:pt x="0" y="368807"/>
                </a:lnTo>
                <a:lnTo>
                  <a:pt x="12170664" y="368807"/>
                </a:lnTo>
                <a:close/>
              </a:path>
            </a:pathLst>
          </a:custGeom>
          <a:solidFill>
            <a:srgbClr val="5B9BD4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2">
            <a:extLst>
              <a:ext uri="{FF2B5EF4-FFF2-40B4-BE49-F238E27FC236}">
                <a16:creationId xmlns:a16="http://schemas.microsoft.com/office/drawing/2014/main" id="{C5CF2CCC-F38A-D3AF-6FA2-A62D00992E8E}"/>
              </a:ext>
            </a:extLst>
          </p:cNvPr>
          <p:cNvSpPr txBox="1"/>
          <p:nvPr/>
        </p:nvSpPr>
        <p:spPr>
          <a:xfrm>
            <a:off x="3772968" y="112509"/>
            <a:ext cx="46674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8600" rIns="0" bIns="0" anchor="t" anchorCtr="0">
            <a:noAutofit/>
          </a:bodyPr>
          <a:lstStyle/>
          <a:p>
            <a:pPr marL="12700" marR="0" lvl="0" indent="0" algn="ctr" rtl="0">
              <a:lnSpc>
                <a:spcPct val="1023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METHODOLOGY</a:t>
            </a:r>
          </a:p>
        </p:txBody>
      </p:sp>
      <p:sp>
        <p:nvSpPr>
          <p:cNvPr id="2" name="Google Shape;11;p1">
            <a:extLst>
              <a:ext uri="{FF2B5EF4-FFF2-40B4-BE49-F238E27FC236}">
                <a16:creationId xmlns:a16="http://schemas.microsoft.com/office/drawing/2014/main" id="{1424C01B-6CAF-0F05-51F6-349AEBA3BD85}"/>
              </a:ext>
            </a:extLst>
          </p:cNvPr>
          <p:cNvSpPr/>
          <p:nvPr/>
        </p:nvSpPr>
        <p:spPr>
          <a:xfrm>
            <a:off x="21336" y="6585056"/>
            <a:ext cx="12170664" cy="368807"/>
          </a:xfrm>
          <a:custGeom>
            <a:avLst/>
            <a:gdLst/>
            <a:ahLst/>
            <a:cxnLst/>
            <a:rect l="l" t="t" r="r" b="b"/>
            <a:pathLst>
              <a:path w="12170664" h="368807" extrusionOk="0">
                <a:moveTo>
                  <a:pt x="12170664" y="368807"/>
                </a:moveTo>
                <a:lnTo>
                  <a:pt x="12170664" y="0"/>
                </a:lnTo>
                <a:lnTo>
                  <a:pt x="0" y="0"/>
                </a:lnTo>
                <a:lnTo>
                  <a:pt x="0" y="368807"/>
                </a:lnTo>
                <a:lnTo>
                  <a:pt x="12170664" y="368807"/>
                </a:lnTo>
                <a:close/>
              </a:path>
            </a:pathLst>
          </a:custGeom>
          <a:solidFill>
            <a:srgbClr val="5B9BD4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 algn="ctr"/>
            <a:r>
              <a:rPr lang="en-US" sz="1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600" b="1" dirty="0"/>
              <a:t>2025 IEEE International Conference on Recent Advances in Computing and Systems</a:t>
            </a:r>
            <a:r>
              <a:rPr lang="en-US" sz="1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19 -20 Dec 2025 | ABV-IIITM Gwalior India</a:t>
            </a:r>
            <a:endParaRPr sz="16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9A28494-684A-B177-A92F-CD813187A6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154159"/>
            <a:ext cx="264816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CD2554F1-2807-DCF7-681E-586DA5DACD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081" y="2044376"/>
            <a:ext cx="312495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A845C2-4FFC-0B83-C2A7-170A56322BC5}"/>
              </a:ext>
            </a:extLst>
          </p:cNvPr>
          <p:cNvSpPr txBox="1"/>
          <p:nvPr/>
        </p:nvSpPr>
        <p:spPr>
          <a:xfrm>
            <a:off x="536713" y="1451113"/>
            <a:ext cx="4732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8E806F4-358F-BC80-961C-780D22E5555F}"/>
              </a:ext>
            </a:extLst>
          </p:cNvPr>
          <p:cNvSpPr txBox="1"/>
          <p:nvPr/>
        </p:nvSpPr>
        <p:spPr>
          <a:xfrm>
            <a:off x="6410739" y="6239437"/>
            <a:ext cx="4828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727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F5445902-3708-BB61-10FD-ABB336A715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816" y="-191508"/>
            <a:ext cx="11792103" cy="64325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Dataset Selection</a:t>
            </a:r>
            <a:br>
              <a:rPr lang="en-US" sz="2000" dirty="0"/>
            </a:br>
            <a:r>
              <a:rPr lang="en-US" sz="2000" dirty="0"/>
              <a:t>The EdNet-KT4 dataset containing over 300,000 student interaction records was used to model learning behavior and performance.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Data Preprocessing</a:t>
            </a:r>
            <a:br>
              <a:rPr lang="en-US" sz="2000" dirty="0"/>
            </a:br>
            <a:r>
              <a:rPr lang="en-US" sz="2000" dirty="0"/>
              <a:t>Raw data was cleaned by removing incomplete sessions, handling missing values, and encoding categorical variables such as action type, item ID, and platform.</a:t>
            </a:r>
            <a:br>
              <a:rPr lang="en-US" sz="2000" dirty="0"/>
            </a:br>
            <a:r>
              <a:rPr lang="en-US" sz="2000" dirty="0"/>
              <a:t>These steps ensured data consistency and improved model reliability during training.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Feature Engineering</a:t>
            </a:r>
            <a:br>
              <a:rPr lang="en-US" sz="2000" dirty="0"/>
            </a:br>
            <a:r>
              <a:rPr lang="en-US" sz="2000" dirty="0"/>
              <a:t>Key behavioral and temporal features were extracted, including time differences between interactions, rolling averages, and sequence-based features to capture learning patterns.</a:t>
            </a:r>
            <a:br>
              <a:rPr lang="en-US" sz="2000" dirty="0"/>
            </a:br>
            <a:r>
              <a:rPr lang="en-US" sz="2000" dirty="0"/>
              <a:t>Feature engineering enhanced the representation of student engagement and performance trends.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Sequence Preparation</a:t>
            </a:r>
            <a:br>
              <a:rPr lang="en-US" sz="2000" dirty="0"/>
            </a:br>
            <a:r>
              <a:rPr lang="en-US" sz="2000" dirty="0"/>
              <a:t>Student interaction data was organized into fixed-length sequences of 100 interactions per user and transformed into 3D tensors suitable for deep learning models.</a:t>
            </a:r>
            <a:br>
              <a:rPr lang="en-US" sz="2000" dirty="0"/>
            </a:br>
            <a:r>
              <a:rPr lang="en-US" sz="2000" dirty="0"/>
              <a:t>This sequence-based structure enabled effective modeling of temporal learning dependencies.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endParaRPr kumimoji="0" lang="en-US" altLang="en-US" sz="3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61405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">
          <a:extLst>
            <a:ext uri="{FF2B5EF4-FFF2-40B4-BE49-F238E27FC236}">
              <a16:creationId xmlns:a16="http://schemas.microsoft.com/office/drawing/2014/main" id="{B5D5B09B-B411-87BB-9BE3-ECB13010A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:a16="http://schemas.microsoft.com/office/drawing/2014/main" id="{C9E9D6A7-294B-D6F8-1FD2-755E1EBD3842}"/>
              </a:ext>
            </a:extLst>
          </p:cNvPr>
          <p:cNvSpPr/>
          <p:nvPr/>
        </p:nvSpPr>
        <p:spPr>
          <a:xfrm>
            <a:off x="21336" y="6489191"/>
            <a:ext cx="12170664" cy="368807"/>
          </a:xfrm>
          <a:custGeom>
            <a:avLst/>
            <a:gdLst/>
            <a:ahLst/>
            <a:cxnLst/>
            <a:rect l="l" t="t" r="r" b="b"/>
            <a:pathLst>
              <a:path w="12170664" h="368807" extrusionOk="0">
                <a:moveTo>
                  <a:pt x="12170664" y="368807"/>
                </a:moveTo>
                <a:lnTo>
                  <a:pt x="12170664" y="0"/>
                </a:lnTo>
                <a:lnTo>
                  <a:pt x="0" y="0"/>
                </a:lnTo>
                <a:lnTo>
                  <a:pt x="0" y="368807"/>
                </a:lnTo>
                <a:lnTo>
                  <a:pt x="12170664" y="368807"/>
                </a:lnTo>
                <a:close/>
              </a:path>
            </a:pathLst>
          </a:custGeom>
          <a:solidFill>
            <a:srgbClr val="5B9BD4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2">
            <a:extLst>
              <a:ext uri="{FF2B5EF4-FFF2-40B4-BE49-F238E27FC236}">
                <a16:creationId xmlns:a16="http://schemas.microsoft.com/office/drawing/2014/main" id="{08A52874-441F-1616-7221-D52056897FA5}"/>
              </a:ext>
            </a:extLst>
          </p:cNvPr>
          <p:cNvSpPr txBox="1"/>
          <p:nvPr/>
        </p:nvSpPr>
        <p:spPr>
          <a:xfrm>
            <a:off x="3772968" y="112509"/>
            <a:ext cx="46674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8600" rIns="0" bIns="0" anchor="t" anchorCtr="0">
            <a:noAutofit/>
          </a:bodyPr>
          <a:lstStyle/>
          <a:p>
            <a:pPr marL="12700" marR="0" lvl="0" indent="0" algn="ctr" rtl="0">
              <a:lnSpc>
                <a:spcPct val="1023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METHODOLOGY</a:t>
            </a:r>
          </a:p>
        </p:txBody>
      </p:sp>
      <p:sp>
        <p:nvSpPr>
          <p:cNvPr id="2" name="Google Shape;11;p1">
            <a:extLst>
              <a:ext uri="{FF2B5EF4-FFF2-40B4-BE49-F238E27FC236}">
                <a16:creationId xmlns:a16="http://schemas.microsoft.com/office/drawing/2014/main" id="{1E82ED21-5867-BEB5-12F8-E3F48349693E}"/>
              </a:ext>
            </a:extLst>
          </p:cNvPr>
          <p:cNvSpPr/>
          <p:nvPr/>
        </p:nvSpPr>
        <p:spPr>
          <a:xfrm>
            <a:off x="21336" y="6585056"/>
            <a:ext cx="12170664" cy="368807"/>
          </a:xfrm>
          <a:custGeom>
            <a:avLst/>
            <a:gdLst/>
            <a:ahLst/>
            <a:cxnLst/>
            <a:rect l="l" t="t" r="r" b="b"/>
            <a:pathLst>
              <a:path w="12170664" h="368807" extrusionOk="0">
                <a:moveTo>
                  <a:pt x="12170664" y="368807"/>
                </a:moveTo>
                <a:lnTo>
                  <a:pt x="12170664" y="0"/>
                </a:lnTo>
                <a:lnTo>
                  <a:pt x="0" y="0"/>
                </a:lnTo>
                <a:lnTo>
                  <a:pt x="0" y="368807"/>
                </a:lnTo>
                <a:lnTo>
                  <a:pt x="12170664" y="368807"/>
                </a:lnTo>
                <a:close/>
              </a:path>
            </a:pathLst>
          </a:custGeom>
          <a:solidFill>
            <a:srgbClr val="5B9BD4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 algn="ctr"/>
            <a:r>
              <a:rPr lang="en-US" sz="1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600" b="1" dirty="0"/>
              <a:t>2025 IEEE International Conference on Recent Advances in Computing and Systems</a:t>
            </a:r>
            <a:r>
              <a:rPr lang="en-US" sz="1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19 -20 Dec 2025 | ABV-IIITM Gwalior India</a:t>
            </a:r>
            <a:endParaRPr sz="16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810BD6C4-8ADD-1478-625F-5A726BD2A5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154159"/>
            <a:ext cx="264816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6CE6CE94-BFEE-B9B3-EAF9-319F83F274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081" y="2044376"/>
            <a:ext cx="312495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F7B8811-E930-AAB0-1F90-0E2FC2AC2357}"/>
              </a:ext>
            </a:extLst>
          </p:cNvPr>
          <p:cNvSpPr txBox="1"/>
          <p:nvPr/>
        </p:nvSpPr>
        <p:spPr>
          <a:xfrm>
            <a:off x="536713" y="1451113"/>
            <a:ext cx="4732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B31D6CD-7532-25EC-BF36-E14CB74EA54C}"/>
              </a:ext>
            </a:extLst>
          </p:cNvPr>
          <p:cNvSpPr txBox="1"/>
          <p:nvPr/>
        </p:nvSpPr>
        <p:spPr>
          <a:xfrm>
            <a:off x="6410739" y="6239437"/>
            <a:ext cx="4828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727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55C7C9CD-9A97-DAAE-20A7-917FA307A7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408" y="-822448"/>
            <a:ext cx="11628668" cy="66787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Model Development</a:t>
            </a:r>
            <a:br>
              <a:rPr lang="en-US" sz="2000" dirty="0"/>
            </a:br>
            <a:r>
              <a:rPr lang="en-US" sz="2000" dirty="0"/>
              <a:t>Seven deep learning models—MLP, LSTM, BiLSTM, GRU, CNN, Transformer, and a hybrid GRU-CNN—were implemented to predict student performance using self-supervised learning.</a:t>
            </a:r>
            <a:br>
              <a:rPr lang="en-US" sz="2000" dirty="0"/>
            </a:br>
            <a:r>
              <a:rPr lang="en-US" sz="2000" dirty="0"/>
              <a:t>The models were selected to compare non-sequential, sequential, and hybrid learning approaches.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Training and Optimization</a:t>
            </a:r>
            <a:br>
              <a:rPr lang="en-US" sz="2000" dirty="0"/>
            </a:br>
            <a:r>
              <a:rPr lang="en-US" sz="2000" dirty="0"/>
              <a:t>Models were trained using the Adam optimizer and Binary Cross-Entropy loss, with dropout and early stopping applied to prevent overfitting.</a:t>
            </a:r>
            <a:br>
              <a:rPr lang="en-US" sz="2000" dirty="0"/>
            </a:br>
            <a:r>
              <a:rPr lang="en-US" sz="2000" dirty="0"/>
              <a:t>This training strategy ensured stable convergence and improved generalization.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Performance Evaluation</a:t>
            </a:r>
            <a:br>
              <a:rPr lang="en-US" sz="2000" dirty="0"/>
            </a:br>
            <a:r>
              <a:rPr lang="en-US" sz="2000" dirty="0"/>
              <a:t>Model performance was evaluated using Accuracy, Precision, Recall, and F1-score, along with training and testing loss plots to analyze convergence and generalization.</a:t>
            </a:r>
            <a:br>
              <a:rPr lang="en-US" sz="2000" dirty="0"/>
            </a:br>
            <a:r>
              <a:rPr lang="en-US" sz="2000" dirty="0"/>
              <a:t>These metrics enabled comprehensive comparison of model effectiveness and robustness.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endParaRPr kumimoji="0" lang="en-US" altLang="en-US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94601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">
          <a:extLst>
            <a:ext uri="{FF2B5EF4-FFF2-40B4-BE49-F238E27FC236}">
              <a16:creationId xmlns:a16="http://schemas.microsoft.com/office/drawing/2014/main" id="{943E820D-CCC5-BB97-B522-C6A08EFE70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:a16="http://schemas.microsoft.com/office/drawing/2014/main" id="{C1AE6DBC-7D5E-4DAC-5066-84DB1F71653F}"/>
              </a:ext>
            </a:extLst>
          </p:cNvPr>
          <p:cNvSpPr/>
          <p:nvPr/>
        </p:nvSpPr>
        <p:spPr>
          <a:xfrm>
            <a:off x="21336" y="6489191"/>
            <a:ext cx="12170664" cy="368807"/>
          </a:xfrm>
          <a:custGeom>
            <a:avLst/>
            <a:gdLst/>
            <a:ahLst/>
            <a:cxnLst/>
            <a:rect l="l" t="t" r="r" b="b"/>
            <a:pathLst>
              <a:path w="12170664" h="368807" extrusionOk="0">
                <a:moveTo>
                  <a:pt x="12170664" y="368807"/>
                </a:moveTo>
                <a:lnTo>
                  <a:pt x="12170664" y="0"/>
                </a:lnTo>
                <a:lnTo>
                  <a:pt x="0" y="0"/>
                </a:lnTo>
                <a:lnTo>
                  <a:pt x="0" y="368807"/>
                </a:lnTo>
                <a:lnTo>
                  <a:pt x="12170664" y="368807"/>
                </a:lnTo>
                <a:close/>
              </a:path>
            </a:pathLst>
          </a:custGeom>
          <a:solidFill>
            <a:srgbClr val="5B9BD4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2">
            <a:extLst>
              <a:ext uri="{FF2B5EF4-FFF2-40B4-BE49-F238E27FC236}">
                <a16:creationId xmlns:a16="http://schemas.microsoft.com/office/drawing/2014/main" id="{6C078F90-BDC2-845C-B702-B17F0A8EB495}"/>
              </a:ext>
            </a:extLst>
          </p:cNvPr>
          <p:cNvSpPr txBox="1"/>
          <p:nvPr/>
        </p:nvSpPr>
        <p:spPr>
          <a:xfrm>
            <a:off x="2680015" y="123019"/>
            <a:ext cx="683197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8600" rIns="0" bIns="0" anchor="t" anchorCtr="0">
            <a:noAutofit/>
          </a:bodyPr>
          <a:lstStyle/>
          <a:p>
            <a:pPr marL="12700" marR="0" lvl="0" indent="0" algn="ctr" rtl="0">
              <a:lnSpc>
                <a:spcPct val="1023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PERFORMANCE MEASURES</a:t>
            </a:r>
          </a:p>
        </p:txBody>
      </p:sp>
      <p:sp>
        <p:nvSpPr>
          <p:cNvPr id="2" name="Google Shape;11;p1">
            <a:extLst>
              <a:ext uri="{FF2B5EF4-FFF2-40B4-BE49-F238E27FC236}">
                <a16:creationId xmlns:a16="http://schemas.microsoft.com/office/drawing/2014/main" id="{F0187EB3-F890-968C-026E-9408B57CF478}"/>
              </a:ext>
            </a:extLst>
          </p:cNvPr>
          <p:cNvSpPr/>
          <p:nvPr/>
        </p:nvSpPr>
        <p:spPr>
          <a:xfrm>
            <a:off x="21336" y="6585056"/>
            <a:ext cx="12170664" cy="368807"/>
          </a:xfrm>
          <a:custGeom>
            <a:avLst/>
            <a:gdLst/>
            <a:ahLst/>
            <a:cxnLst/>
            <a:rect l="l" t="t" r="r" b="b"/>
            <a:pathLst>
              <a:path w="12170664" h="368807" extrusionOk="0">
                <a:moveTo>
                  <a:pt x="12170664" y="368807"/>
                </a:moveTo>
                <a:lnTo>
                  <a:pt x="12170664" y="0"/>
                </a:lnTo>
                <a:lnTo>
                  <a:pt x="0" y="0"/>
                </a:lnTo>
                <a:lnTo>
                  <a:pt x="0" y="368807"/>
                </a:lnTo>
                <a:lnTo>
                  <a:pt x="12170664" y="368807"/>
                </a:lnTo>
                <a:close/>
              </a:path>
            </a:pathLst>
          </a:custGeom>
          <a:solidFill>
            <a:srgbClr val="5B9BD4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 algn="ctr"/>
            <a:r>
              <a:rPr lang="en-US" sz="1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600" b="1" dirty="0"/>
              <a:t>2025 IEEE International Conference on Recent Advances in Computing and Systems</a:t>
            </a:r>
            <a:r>
              <a:rPr lang="en-US" sz="1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19 -20 Dec 2025 | ABV-IIITM Gwalior India</a:t>
            </a:r>
            <a:endParaRPr sz="16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1C133AE0-5B5C-C213-47B0-5ADDA2EAA1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154159"/>
            <a:ext cx="264816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1BE36E5A-AA40-67EA-7330-01AD97CAB7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081" y="2044376"/>
            <a:ext cx="312495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B705CA-F805-B41C-8288-989EAFF55163}"/>
              </a:ext>
            </a:extLst>
          </p:cNvPr>
          <p:cNvSpPr txBox="1"/>
          <p:nvPr/>
        </p:nvSpPr>
        <p:spPr>
          <a:xfrm>
            <a:off x="536713" y="1451113"/>
            <a:ext cx="4732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D20E915-2AEF-C9FE-A6D3-157D62886B92}"/>
              </a:ext>
            </a:extLst>
          </p:cNvPr>
          <p:cNvSpPr txBox="1"/>
          <p:nvPr/>
        </p:nvSpPr>
        <p:spPr>
          <a:xfrm>
            <a:off x="6410739" y="6239437"/>
            <a:ext cx="4828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727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BBF372B-ADCE-7060-9E7F-771F455656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816" y="912670"/>
            <a:ext cx="11674936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2000" dirty="0"/>
              <a:t>• The proposed </a:t>
            </a:r>
            <a:r>
              <a:rPr lang="en-IN" sz="2000" b="1" dirty="0"/>
              <a:t>expert-agnostic Intelligent Tutoring System</a:t>
            </a:r>
            <a:r>
              <a:rPr lang="en-IN" sz="2000" dirty="0"/>
              <a:t> is evaluated using standard classification metrics:</a:t>
            </a:r>
            <a:br>
              <a:rPr lang="en-IN" sz="2000" dirty="0"/>
            </a:br>
            <a:r>
              <a:rPr lang="en-IN" sz="2000" dirty="0"/>
              <a:t>o Accuracy, Precision, Recall, and F1-Score</a:t>
            </a:r>
          </a:p>
          <a:p>
            <a:r>
              <a:rPr lang="en-IN" sz="2000" dirty="0"/>
              <a:t>• Evaluation focuses on:</a:t>
            </a:r>
            <a:br>
              <a:rPr lang="en-IN" sz="2000" dirty="0"/>
            </a:br>
            <a:r>
              <a:rPr lang="en-IN" sz="2000" dirty="0"/>
              <a:t>o Binary classification (Correct vs Incorrect responses)</a:t>
            </a:r>
            <a:br>
              <a:rPr lang="en-IN" sz="2000" dirty="0"/>
            </a:br>
            <a:r>
              <a:rPr lang="en-IN" sz="2000" dirty="0"/>
              <a:t>o Performance comparison across deep learning models</a:t>
            </a:r>
          </a:p>
          <a:p>
            <a:r>
              <a:rPr lang="en-IN" sz="2000" dirty="0"/>
              <a:t>• Model-wise analysis includes:</a:t>
            </a:r>
            <a:br>
              <a:rPr lang="en-IN" sz="2000" dirty="0"/>
            </a:br>
            <a:r>
              <a:rPr lang="en-IN" sz="2000" dirty="0"/>
              <a:t>o MLP, LSTM, BiLSTM, GRU, CNN, Transformer, and Hybrid GRU-CNN</a:t>
            </a:r>
          </a:p>
          <a:p>
            <a:r>
              <a:rPr lang="en-IN" sz="2000" dirty="0"/>
              <a:t>• Training and validation loss curves are </a:t>
            </a:r>
            <a:r>
              <a:rPr lang="en-IN" sz="2000" dirty="0" err="1"/>
              <a:t>analyzed</a:t>
            </a:r>
            <a:r>
              <a:rPr lang="en-IN" sz="2000" dirty="0"/>
              <a:t> to assess:</a:t>
            </a:r>
            <a:br>
              <a:rPr lang="en-IN" sz="2000" dirty="0"/>
            </a:br>
            <a:r>
              <a:rPr lang="en-IN" sz="2000" dirty="0"/>
              <a:t>o Model convergence and generalization</a:t>
            </a:r>
            <a:br>
              <a:rPr lang="en-IN" sz="2000" dirty="0"/>
            </a:br>
            <a:r>
              <a:rPr lang="en-IN" sz="2000" dirty="0"/>
              <a:t>o Overfitting and underfitting behavior</a:t>
            </a:r>
          </a:p>
          <a:p>
            <a:r>
              <a:rPr lang="en-IN" sz="2000" dirty="0"/>
              <a:t>• The evaluation setup uses:</a:t>
            </a:r>
            <a:br>
              <a:rPr lang="en-IN" sz="2000" dirty="0"/>
            </a:br>
            <a:r>
              <a:rPr lang="en-IN" sz="2000" dirty="0"/>
              <a:t>o Train–test split</a:t>
            </a:r>
            <a:br>
              <a:rPr lang="en-IN" sz="2000" dirty="0"/>
            </a:br>
            <a:r>
              <a:rPr lang="en-IN" sz="2000" dirty="0"/>
              <a:t>o Self-supervised learning on sequential interaction data</a:t>
            </a:r>
          </a:p>
          <a:p>
            <a:br>
              <a:rPr lang="en-IN" sz="2800" dirty="0"/>
            </a:b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05329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">
          <a:extLst>
            <a:ext uri="{FF2B5EF4-FFF2-40B4-BE49-F238E27FC236}">
              <a16:creationId xmlns:a16="http://schemas.microsoft.com/office/drawing/2014/main" id="{8E09EA25-BCA7-0207-C117-DB82E0FE60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:a16="http://schemas.microsoft.com/office/drawing/2014/main" id="{3F56E39C-B67C-113B-F37D-930A095B1650}"/>
              </a:ext>
            </a:extLst>
          </p:cNvPr>
          <p:cNvSpPr/>
          <p:nvPr/>
        </p:nvSpPr>
        <p:spPr>
          <a:xfrm>
            <a:off x="21336" y="6489191"/>
            <a:ext cx="12170664" cy="368807"/>
          </a:xfrm>
          <a:custGeom>
            <a:avLst/>
            <a:gdLst/>
            <a:ahLst/>
            <a:cxnLst/>
            <a:rect l="l" t="t" r="r" b="b"/>
            <a:pathLst>
              <a:path w="12170664" h="368807" extrusionOk="0">
                <a:moveTo>
                  <a:pt x="12170664" y="368807"/>
                </a:moveTo>
                <a:lnTo>
                  <a:pt x="12170664" y="0"/>
                </a:lnTo>
                <a:lnTo>
                  <a:pt x="0" y="0"/>
                </a:lnTo>
                <a:lnTo>
                  <a:pt x="0" y="368807"/>
                </a:lnTo>
                <a:lnTo>
                  <a:pt x="12170664" y="368807"/>
                </a:lnTo>
                <a:close/>
              </a:path>
            </a:pathLst>
          </a:custGeom>
          <a:solidFill>
            <a:srgbClr val="5B9BD4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2">
            <a:extLst>
              <a:ext uri="{FF2B5EF4-FFF2-40B4-BE49-F238E27FC236}">
                <a16:creationId xmlns:a16="http://schemas.microsoft.com/office/drawing/2014/main" id="{8A9159AD-B71C-4A57-4DF8-1C0454574F3C}"/>
              </a:ext>
            </a:extLst>
          </p:cNvPr>
          <p:cNvSpPr txBox="1"/>
          <p:nvPr/>
        </p:nvSpPr>
        <p:spPr>
          <a:xfrm>
            <a:off x="3689413" y="33563"/>
            <a:ext cx="46674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8600" rIns="0" bIns="0" anchor="t" anchorCtr="0">
            <a:noAutofit/>
          </a:bodyPr>
          <a:lstStyle/>
          <a:p>
            <a:pPr marL="12700" marR="0" lvl="0" indent="0" algn="ctr" rtl="0">
              <a:lnSpc>
                <a:spcPct val="1023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RESULTS AND ANALYSIS</a:t>
            </a:r>
          </a:p>
        </p:txBody>
      </p:sp>
      <p:sp>
        <p:nvSpPr>
          <p:cNvPr id="2" name="Google Shape;11;p1">
            <a:extLst>
              <a:ext uri="{FF2B5EF4-FFF2-40B4-BE49-F238E27FC236}">
                <a16:creationId xmlns:a16="http://schemas.microsoft.com/office/drawing/2014/main" id="{7F7D29F4-B769-63DC-B4F5-D54A8119BB40}"/>
              </a:ext>
            </a:extLst>
          </p:cNvPr>
          <p:cNvSpPr/>
          <p:nvPr/>
        </p:nvSpPr>
        <p:spPr>
          <a:xfrm>
            <a:off x="21336" y="6585056"/>
            <a:ext cx="12170664" cy="368807"/>
          </a:xfrm>
          <a:custGeom>
            <a:avLst/>
            <a:gdLst/>
            <a:ahLst/>
            <a:cxnLst/>
            <a:rect l="l" t="t" r="r" b="b"/>
            <a:pathLst>
              <a:path w="12170664" h="368807" extrusionOk="0">
                <a:moveTo>
                  <a:pt x="12170664" y="368807"/>
                </a:moveTo>
                <a:lnTo>
                  <a:pt x="12170664" y="0"/>
                </a:lnTo>
                <a:lnTo>
                  <a:pt x="0" y="0"/>
                </a:lnTo>
                <a:lnTo>
                  <a:pt x="0" y="368807"/>
                </a:lnTo>
                <a:lnTo>
                  <a:pt x="12170664" y="368807"/>
                </a:lnTo>
                <a:close/>
              </a:path>
            </a:pathLst>
          </a:custGeom>
          <a:solidFill>
            <a:srgbClr val="5B9BD4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 algn="ctr"/>
            <a:r>
              <a:rPr lang="en-US" sz="1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600" b="1" dirty="0"/>
              <a:t>2025 IEEE International Conference on Recent Advances in Computing and Systems</a:t>
            </a:r>
            <a:r>
              <a:rPr lang="en-US" sz="1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19 -20 Dec 2025 | ABV-IIITM Gwalior India</a:t>
            </a:r>
            <a:endParaRPr sz="16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7C70336C-A4FD-43CE-D252-FAEE18A0B1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154159"/>
            <a:ext cx="264816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741EEA8E-261F-FBDF-B964-17E84E49D2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081" y="2044376"/>
            <a:ext cx="312495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0E2290-2CB1-DBF0-5310-58BA95707ACE}"/>
              </a:ext>
            </a:extLst>
          </p:cNvPr>
          <p:cNvSpPr txBox="1"/>
          <p:nvPr/>
        </p:nvSpPr>
        <p:spPr>
          <a:xfrm>
            <a:off x="536713" y="1451113"/>
            <a:ext cx="4732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704A088-9EEE-435B-8807-D7A38307BD02}"/>
              </a:ext>
            </a:extLst>
          </p:cNvPr>
          <p:cNvSpPr txBox="1"/>
          <p:nvPr/>
        </p:nvSpPr>
        <p:spPr>
          <a:xfrm>
            <a:off x="6410739" y="6239437"/>
            <a:ext cx="4828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727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47453FE-994A-FFCE-F25E-C960A3B5EF93}"/>
              </a:ext>
            </a:extLst>
          </p:cNvPr>
          <p:cNvCxnSpPr>
            <a:cxnSpLocks/>
          </p:cNvCxnSpPr>
          <p:nvPr/>
        </p:nvCxnSpPr>
        <p:spPr>
          <a:xfrm>
            <a:off x="6023113" y="593503"/>
            <a:ext cx="0" cy="564593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1">
            <a:extLst>
              <a:ext uri="{FF2B5EF4-FFF2-40B4-BE49-F238E27FC236}">
                <a16:creationId xmlns:a16="http://schemas.microsoft.com/office/drawing/2014/main" id="{F0720D44-C2B8-3A79-A18C-6BCEF035BD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408" y="892559"/>
            <a:ext cx="5633983" cy="50475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Seven deep learning models were evaluated on the EdNet-KT4 dataset under a self-supervised learning framework.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 </a:t>
            </a:r>
            <a:r>
              <a:rPr lang="en-US" b="1" dirty="0"/>
              <a:t>CNN model achieved the highest accuracy of 98.41%</a:t>
            </a:r>
            <a:r>
              <a:rPr lang="en-US" dirty="0"/>
              <a:t>, demonstrating strong capability in capturing local interaction patterns.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 </a:t>
            </a:r>
            <a:r>
              <a:rPr lang="en-US" b="1" dirty="0"/>
              <a:t>hybrid GRU-CNN model achieved 98.08% accuracy</a:t>
            </a:r>
            <a:r>
              <a:rPr lang="en-US" dirty="0"/>
              <a:t>, showing robust performance by combining short-term pattern extraction and long-term dependency modeling.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Sequential models such as </a:t>
            </a:r>
            <a:r>
              <a:rPr lang="en-US" b="1" dirty="0"/>
              <a:t>BiLSTM (95.62%)</a:t>
            </a:r>
            <a:r>
              <a:rPr lang="en-US" dirty="0"/>
              <a:t> also performed well, benefiting from bidirectional context in student interaction sequences.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LSTM and GRU</a:t>
            </a:r>
            <a:r>
              <a:rPr lang="en-US" dirty="0"/>
              <a:t> showed stable but comparatively lower performance, indicating limitations in modeling complex learning behaviors alone.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MLP and Transformer</a:t>
            </a:r>
            <a:r>
              <a:rPr lang="en-US" dirty="0"/>
              <a:t> models achieved lower accuracy (~72%), as MLP lacks temporal awareness and the Transformer showed overfitting on limited sequence lengths.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Training and validation loss curves reveal that </a:t>
            </a:r>
            <a:r>
              <a:rPr lang="en-US" b="1" dirty="0"/>
              <a:t>CNN and GRU-CNN exhibit smooth convergence and minimal overfitting</a:t>
            </a:r>
            <a:r>
              <a:rPr lang="en-US" dirty="0"/>
              <a:t>, indicating good generalization.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Overall, results confirm that </a:t>
            </a:r>
            <a:r>
              <a:rPr lang="en-US" b="1" dirty="0"/>
              <a:t>high-accuracy student performance prediction is achievable without expert-labeled data</a:t>
            </a:r>
            <a:r>
              <a:rPr lang="en-US" dirty="0"/>
              <a:t> using self-supervised deep learning models.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43DAC6B-2264-8B82-B814-A3DA20BBF1D0}"/>
              </a:ext>
            </a:extLst>
          </p:cNvPr>
          <p:cNvSpPr txBox="1"/>
          <p:nvPr/>
        </p:nvSpPr>
        <p:spPr>
          <a:xfrm>
            <a:off x="6168888" y="5671837"/>
            <a:ext cx="43781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Table: Evaluation Metrics Results Of Each Model </a:t>
            </a:r>
          </a:p>
        </p:txBody>
      </p:sp>
      <p:pic>
        <p:nvPicPr>
          <p:cNvPr id="3" name="Picture 2" descr="A table with numbers and a number of objects&#10;&#10;AI-generated content may be incorrect.">
            <a:extLst>
              <a:ext uri="{FF2B5EF4-FFF2-40B4-BE49-F238E27FC236}">
                <a16:creationId xmlns:a16="http://schemas.microsoft.com/office/drawing/2014/main" id="{D9D36846-2062-BB52-2480-CF6FB1D3D0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868317"/>
            <a:ext cx="5960916" cy="4256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724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">
          <a:extLst>
            <a:ext uri="{FF2B5EF4-FFF2-40B4-BE49-F238E27FC236}">
              <a16:creationId xmlns:a16="http://schemas.microsoft.com/office/drawing/2014/main" id="{3740BA53-B1B1-BB36-DED6-CD71211D7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:a16="http://schemas.microsoft.com/office/drawing/2014/main" id="{CB7F1879-E56E-83E4-D349-B3468A5062B9}"/>
              </a:ext>
            </a:extLst>
          </p:cNvPr>
          <p:cNvSpPr/>
          <p:nvPr/>
        </p:nvSpPr>
        <p:spPr>
          <a:xfrm>
            <a:off x="21336" y="6489191"/>
            <a:ext cx="12170664" cy="368807"/>
          </a:xfrm>
          <a:custGeom>
            <a:avLst/>
            <a:gdLst/>
            <a:ahLst/>
            <a:cxnLst/>
            <a:rect l="l" t="t" r="r" b="b"/>
            <a:pathLst>
              <a:path w="12170664" h="368807" extrusionOk="0">
                <a:moveTo>
                  <a:pt x="12170664" y="368807"/>
                </a:moveTo>
                <a:lnTo>
                  <a:pt x="12170664" y="0"/>
                </a:lnTo>
                <a:lnTo>
                  <a:pt x="0" y="0"/>
                </a:lnTo>
                <a:lnTo>
                  <a:pt x="0" y="368807"/>
                </a:lnTo>
                <a:lnTo>
                  <a:pt x="12170664" y="368807"/>
                </a:lnTo>
                <a:close/>
              </a:path>
            </a:pathLst>
          </a:custGeom>
          <a:solidFill>
            <a:srgbClr val="5B9BD4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2">
            <a:extLst>
              <a:ext uri="{FF2B5EF4-FFF2-40B4-BE49-F238E27FC236}">
                <a16:creationId xmlns:a16="http://schemas.microsoft.com/office/drawing/2014/main" id="{E24BAD1B-36A6-7FC9-E37E-7AC044D60F0D}"/>
              </a:ext>
            </a:extLst>
          </p:cNvPr>
          <p:cNvSpPr txBox="1"/>
          <p:nvPr/>
        </p:nvSpPr>
        <p:spPr>
          <a:xfrm>
            <a:off x="2576212" y="63499"/>
            <a:ext cx="7039576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8600" rIns="0" bIns="0" anchor="t" anchorCtr="0">
            <a:noAutofit/>
          </a:bodyPr>
          <a:lstStyle/>
          <a:p>
            <a:pPr marL="12700" marR="0" lvl="0" indent="0" algn="ctr" rtl="0">
              <a:lnSpc>
                <a:spcPct val="1023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CONCLUSION &amp; FUTURE SCOPE</a:t>
            </a:r>
          </a:p>
        </p:txBody>
      </p:sp>
      <p:sp>
        <p:nvSpPr>
          <p:cNvPr id="2" name="Google Shape;11;p1">
            <a:extLst>
              <a:ext uri="{FF2B5EF4-FFF2-40B4-BE49-F238E27FC236}">
                <a16:creationId xmlns:a16="http://schemas.microsoft.com/office/drawing/2014/main" id="{0A5DCA27-C761-B0CA-BE34-4D79263E9BD2}"/>
              </a:ext>
            </a:extLst>
          </p:cNvPr>
          <p:cNvSpPr/>
          <p:nvPr/>
        </p:nvSpPr>
        <p:spPr>
          <a:xfrm>
            <a:off x="21336" y="6585056"/>
            <a:ext cx="12170664" cy="368807"/>
          </a:xfrm>
          <a:custGeom>
            <a:avLst/>
            <a:gdLst/>
            <a:ahLst/>
            <a:cxnLst/>
            <a:rect l="l" t="t" r="r" b="b"/>
            <a:pathLst>
              <a:path w="12170664" h="368807" extrusionOk="0">
                <a:moveTo>
                  <a:pt x="12170664" y="368807"/>
                </a:moveTo>
                <a:lnTo>
                  <a:pt x="12170664" y="0"/>
                </a:lnTo>
                <a:lnTo>
                  <a:pt x="0" y="0"/>
                </a:lnTo>
                <a:lnTo>
                  <a:pt x="0" y="368807"/>
                </a:lnTo>
                <a:lnTo>
                  <a:pt x="12170664" y="368807"/>
                </a:lnTo>
                <a:close/>
              </a:path>
            </a:pathLst>
          </a:custGeom>
          <a:solidFill>
            <a:srgbClr val="5B9BD4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 algn="ctr"/>
            <a:r>
              <a:rPr lang="en-US" sz="1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600" b="1" dirty="0"/>
              <a:t>2025 IEEE International Conference on Recent Advances in Computing and Systems</a:t>
            </a:r>
            <a:r>
              <a:rPr lang="en-US" sz="1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19 -20 Dec 2025 | ABV-IIITM Gwalior India</a:t>
            </a:r>
            <a:endParaRPr sz="16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D581248C-496A-71DA-9B97-C08E56561E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154159"/>
            <a:ext cx="264816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DCE5D2F4-B0B2-FA15-AD9B-39D0134F1D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081" y="2044376"/>
            <a:ext cx="312495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8DF4F8-C62A-DF49-92C1-FB3D8E6B903A}"/>
              </a:ext>
            </a:extLst>
          </p:cNvPr>
          <p:cNvSpPr txBox="1"/>
          <p:nvPr/>
        </p:nvSpPr>
        <p:spPr>
          <a:xfrm>
            <a:off x="536713" y="1451113"/>
            <a:ext cx="4732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AFD9E1-0390-4567-8288-F726F46A0606}"/>
              </a:ext>
            </a:extLst>
          </p:cNvPr>
          <p:cNvSpPr txBox="1"/>
          <p:nvPr/>
        </p:nvSpPr>
        <p:spPr>
          <a:xfrm>
            <a:off x="6410739" y="6239437"/>
            <a:ext cx="4828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727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3D4DCB54-6914-EF97-7F06-69C77E653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407" y="1276885"/>
            <a:ext cx="11221393" cy="37548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self-supervised, expert-agnostic ITS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predicts student performance effectively without expert-labeled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GRU-CNN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achieved the best results, proving strong generalization from raw interactions.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offers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 and adaptive framework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personalized, domain-independent learning.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Future Scope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multimodal data like facial, voice, and text cues for better engagement detection.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reinforcement learning for adaptive and personalized feedback.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the system in low-resource educational environments.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interpretability and fairness methods for ethical AI deployment.</a:t>
            </a:r>
          </a:p>
          <a:p>
            <a:pPr marL="0" indent="0">
              <a:buNone/>
            </a:pP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21565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">
          <a:extLst>
            <a:ext uri="{FF2B5EF4-FFF2-40B4-BE49-F238E27FC236}">
              <a16:creationId xmlns:a16="http://schemas.microsoft.com/office/drawing/2014/main" id="{F8E72292-B6DE-3C5A-8E15-84588C493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:a16="http://schemas.microsoft.com/office/drawing/2014/main" id="{6AE66B0F-232B-A741-2C7E-495D4D08F864}"/>
              </a:ext>
            </a:extLst>
          </p:cNvPr>
          <p:cNvSpPr/>
          <p:nvPr/>
        </p:nvSpPr>
        <p:spPr>
          <a:xfrm>
            <a:off x="21336" y="6489191"/>
            <a:ext cx="12170664" cy="368807"/>
          </a:xfrm>
          <a:custGeom>
            <a:avLst/>
            <a:gdLst/>
            <a:ahLst/>
            <a:cxnLst/>
            <a:rect l="l" t="t" r="r" b="b"/>
            <a:pathLst>
              <a:path w="12170664" h="368807" extrusionOk="0">
                <a:moveTo>
                  <a:pt x="12170664" y="368807"/>
                </a:moveTo>
                <a:lnTo>
                  <a:pt x="12170664" y="0"/>
                </a:lnTo>
                <a:lnTo>
                  <a:pt x="0" y="0"/>
                </a:lnTo>
                <a:lnTo>
                  <a:pt x="0" y="368807"/>
                </a:lnTo>
                <a:lnTo>
                  <a:pt x="12170664" y="368807"/>
                </a:lnTo>
                <a:close/>
              </a:path>
            </a:pathLst>
          </a:custGeom>
          <a:solidFill>
            <a:srgbClr val="5B9BD4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2">
            <a:extLst>
              <a:ext uri="{FF2B5EF4-FFF2-40B4-BE49-F238E27FC236}">
                <a16:creationId xmlns:a16="http://schemas.microsoft.com/office/drawing/2014/main" id="{CE32D59B-3F39-EA30-F609-8B89194BAA37}"/>
              </a:ext>
            </a:extLst>
          </p:cNvPr>
          <p:cNvSpPr txBox="1"/>
          <p:nvPr/>
        </p:nvSpPr>
        <p:spPr>
          <a:xfrm>
            <a:off x="2586879" y="-71553"/>
            <a:ext cx="7039576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8600" rIns="0" bIns="0" anchor="t" anchorCtr="0">
            <a:noAutofit/>
          </a:bodyPr>
          <a:lstStyle/>
          <a:p>
            <a:pPr marL="12700" marR="0" lvl="0" indent="0" algn="ctr" rtl="0">
              <a:lnSpc>
                <a:spcPct val="1023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REFERENCES</a:t>
            </a:r>
          </a:p>
        </p:txBody>
      </p:sp>
      <p:sp>
        <p:nvSpPr>
          <p:cNvPr id="2" name="Google Shape;11;p1">
            <a:extLst>
              <a:ext uri="{FF2B5EF4-FFF2-40B4-BE49-F238E27FC236}">
                <a16:creationId xmlns:a16="http://schemas.microsoft.com/office/drawing/2014/main" id="{12C9D42A-6D2B-C5B5-C484-56093FFC9FE1}"/>
              </a:ext>
            </a:extLst>
          </p:cNvPr>
          <p:cNvSpPr/>
          <p:nvPr/>
        </p:nvSpPr>
        <p:spPr>
          <a:xfrm>
            <a:off x="21336" y="6585056"/>
            <a:ext cx="12170664" cy="368807"/>
          </a:xfrm>
          <a:custGeom>
            <a:avLst/>
            <a:gdLst/>
            <a:ahLst/>
            <a:cxnLst/>
            <a:rect l="l" t="t" r="r" b="b"/>
            <a:pathLst>
              <a:path w="12170664" h="368807" extrusionOk="0">
                <a:moveTo>
                  <a:pt x="12170664" y="368807"/>
                </a:moveTo>
                <a:lnTo>
                  <a:pt x="12170664" y="0"/>
                </a:lnTo>
                <a:lnTo>
                  <a:pt x="0" y="0"/>
                </a:lnTo>
                <a:lnTo>
                  <a:pt x="0" y="368807"/>
                </a:lnTo>
                <a:lnTo>
                  <a:pt x="12170664" y="368807"/>
                </a:lnTo>
                <a:close/>
              </a:path>
            </a:pathLst>
          </a:custGeom>
          <a:solidFill>
            <a:srgbClr val="5B9BD4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 algn="ctr"/>
            <a:r>
              <a:rPr lang="en-US" sz="1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600" b="1" dirty="0"/>
              <a:t>2025 IEEE International Conference on Recent Advances in Computing and Systems</a:t>
            </a:r>
            <a:r>
              <a:rPr lang="en-US" sz="1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19 -20 Dec 2025 | ABV-IIITM Gwalior India</a:t>
            </a:r>
            <a:endParaRPr sz="16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88BB7365-FFD8-8C5C-41CD-F41CCC0827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154159"/>
            <a:ext cx="264816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32F2F637-9FB2-BB2A-2034-B50B74EA0F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081" y="2044376"/>
            <a:ext cx="312495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428FE3C-E05C-21D5-44CA-0A0B3EF021A0}"/>
              </a:ext>
            </a:extLst>
          </p:cNvPr>
          <p:cNvSpPr txBox="1"/>
          <p:nvPr/>
        </p:nvSpPr>
        <p:spPr>
          <a:xfrm>
            <a:off x="536713" y="1451113"/>
            <a:ext cx="4732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FBA6DA-3223-697D-9343-7A40682CF8C3}"/>
              </a:ext>
            </a:extLst>
          </p:cNvPr>
          <p:cNvSpPr txBox="1"/>
          <p:nvPr/>
        </p:nvSpPr>
        <p:spPr>
          <a:xfrm>
            <a:off x="6410739" y="6239437"/>
            <a:ext cx="4828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727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6A062A3B-F046-336C-06B8-43AC8736CF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411" y="468629"/>
            <a:ext cx="11924511" cy="58477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buFont typeface="+mj-lt"/>
              <a:buAutoNum type="arabicPeriod"/>
            </a:pPr>
            <a:r>
              <a:rPr lang="en-IN" sz="1700" dirty="0"/>
              <a:t>K. Cho et al., ”Learning phrase representations using RNN encoder-decoder for statistical machine </a:t>
            </a:r>
            <a:r>
              <a:rPr lang="en-IN" sz="1700" dirty="0" err="1"/>
              <a:t>transla</a:t>
            </a:r>
            <a:r>
              <a:rPr lang="en-IN" sz="1700" dirty="0"/>
              <a:t>- </a:t>
            </a:r>
            <a:r>
              <a:rPr lang="en-IN" sz="1700" dirty="0" err="1"/>
              <a:t>tion</a:t>
            </a:r>
            <a:r>
              <a:rPr lang="en-IN" sz="1700" dirty="0"/>
              <a:t>,” in Proc. EMNLP, pp. 1724–1734, 2014. 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IN" sz="1700" dirty="0"/>
              <a:t> S. Hochreiter and J. Schmidhuber, ”Long short-term memory,” Neural Computation, vol. 9, no. 8, pp. 1735 1780, 1997. 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IN" sz="1700" dirty="0"/>
              <a:t> A. Graves and J. Schmidhuber, ”Framewise phoneme classification with bidirectional LSTM networks,” in Proc. 2005 IEEE Int. Joint Conf. Neural Networks, vol. 4, pp. 2047–2052. 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IN" sz="1700" dirty="0"/>
              <a:t> D. E. Rumelhart, G. E. Hinton, and R. J. Williams, ”Learning internal representations by error propagation,” in Parallel Distributed Processing, vol. 1, MIT Press, 1986. 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IN" sz="1700" dirty="0"/>
              <a:t>Y. LeCun et al., ”Gradient-based learning applied to document recognition,” Proc. IEEE, vol. 86, no. 11, pp. 2278–2324, 1988. 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IN" sz="1700" dirty="0"/>
              <a:t>A. Vaswani et al., ”Attention is all you need,” Adv. Neural Inf. Process. Syst., vol. 30, 2017. 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IN" sz="1700" dirty="0"/>
              <a:t>W. Yin et al., ”Comparative study of CNN and RNN for natural language processing,” arXiv preprint arXiv:1702.01923, 2017. 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IN" sz="1700" dirty="0"/>
              <a:t>Y. Kim, H. Lee, and G. Lee, ”EdNet: A large-scale hierarchical dataset in education,” in Proc. AIED, 2020. 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IN" sz="1700" dirty="0"/>
              <a:t>A. Raffel et al., ”Exploring the limits of transfer learning with a unified text-to-text transformer,” J. Mach. Learn. Res., vol. 21, no. 140, pp. 1–67, 2020. 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IN" sz="1700" dirty="0"/>
              <a:t>X. Chen et al., ”Intelligent tutoring systems in higher education: A review,” Computers &amp; Education, vol. 144, p. 103700, 2020. 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IN" sz="1700" dirty="0"/>
              <a:t>B. D. Nye, ”Intelligent tutoring systems by the numbers: A review of 50+ years of research,” in Artificial Intelli- </a:t>
            </a:r>
            <a:r>
              <a:rPr lang="en-IN" sz="1700" dirty="0" err="1"/>
              <a:t>gence</a:t>
            </a:r>
            <a:r>
              <a:rPr lang="en-IN" sz="1700" dirty="0"/>
              <a:t> in Education, Springer, 2015, pp. 1–12. 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IN" sz="1700" dirty="0"/>
              <a:t>H. Wang, Y. Zhang, and X. Ma, ”Deep learning for behaviour recognition in classroom surveillance videos,” IEEE Trans. Learning Technologies, vol. 15, no. 1, pp. 24–36, 2022. </a:t>
            </a:r>
          </a:p>
          <a:p>
            <a:pPr marL="342900" indent="-342900" algn="just">
              <a:buFont typeface="+mj-lt"/>
              <a:buAutoNum type="arabicPeriod"/>
            </a:pP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66698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288</TotalTime>
  <Words>1863</Words>
  <Application>Microsoft Office PowerPoint</Application>
  <PresentationFormat>Widescreen</PresentationFormat>
  <Paragraphs>203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Times New Roman</vt:lpstr>
      <vt:lpstr>Office Theme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wilfred</dc:creator>
  <cp:lastModifiedBy>tippanaboinaramesh7993@gmail.com</cp:lastModifiedBy>
  <cp:revision>22</cp:revision>
  <dcterms:modified xsi:type="dcterms:W3CDTF">2025-12-15T15:50:48Z</dcterms:modified>
</cp:coreProperties>
</file>